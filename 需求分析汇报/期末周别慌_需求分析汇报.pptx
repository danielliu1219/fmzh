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566928"/>
            <a:ext cx="11094415" cy="0"/>
          </a:xfrm>
          <a:prstGeom prst="line">
            <a:avLst/>
          </a:prstGeom>
          <a:ln w="19050">
            <a:solidFill>
              <a:srgbClr val="0C161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548640" y="402336"/>
            <a:ext cx="82296" cy="329184"/>
          </a:xfrm>
          <a:prstGeom prst="rect">
            <a:avLst/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200">
                <a:solidFill>
                  <a:srgbClr val="454E48"/>
                </a:solidFill>
                <a:latin typeface="Bahnschrift"/>
                <a:ea typeface="微软雅黑"/>
              </a:rPr>
              <a:t>四川大学计算机学院 · 2024 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6952" y="25603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spc="200">
                <a:solidFill>
                  <a:srgbClr val="8B9084"/>
                </a:solidFill>
                <a:latin typeface="Bahnschrift"/>
                <a:ea typeface="微软雅黑"/>
              </a:rPr>
              <a:t>REQUIREMENTS ANALYSIS · 2026-09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91372" y="1284732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41080" y="123444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E66348"/>
          </a:solidFill>
          <a:ln w="1905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41080" y="1554480"/>
            <a:ext cx="27432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600" b="1">
                <a:solidFill>
                  <a:srgbClr val="FFFFFF"/>
                </a:solidFill>
                <a:latin typeface="Bahnschrift"/>
                <a:ea typeface="STZhongsong"/>
              </a:rPr>
              <a:t>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36118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spc="200">
                <a:solidFill>
                  <a:srgbClr val="F0846B"/>
                </a:solidFill>
                <a:latin typeface="Bahnschrift"/>
                <a:ea typeface="微软雅黑"/>
              </a:rPr>
              <a:t>V1.2 · 2026-09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394960"/>
            <a:ext cx="7315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0" b="1">
                <a:solidFill>
                  <a:srgbClr val="E4E1D4"/>
                </a:solidFill>
                <a:latin typeface="Bahnschrift"/>
                <a:ea typeface="微软雅黑"/>
              </a:rPr>
              <a:t>FMZH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" y="1650492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640" y="1600200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8E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200" b="1">
                <a:solidFill>
                  <a:srgbClr val="C2472F"/>
                </a:solidFill>
                <a:latin typeface="Bahnschrift"/>
                <a:ea typeface="微软雅黑"/>
              </a:rPr>
              <a:t>AI 智能备考网站 · 系统需求分析汇报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40280"/>
            <a:ext cx="7863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>
                <a:solidFill>
                  <a:srgbClr val="0C1614"/>
                </a:solidFill>
                <a:latin typeface="Bahnschrift"/>
                <a:ea typeface="STZhongsong"/>
              </a:rPr>
              <a:t>期末周别慌</a:t>
            </a:r>
            <a:r>
              <a:rPr sz="6400" b="1">
                <a:solidFill>
                  <a:srgbClr val="E66348"/>
                </a:solidFill>
                <a:latin typeface="Bahnschrift"/>
                <a:ea typeface="STZhongsong"/>
              </a:rPr>
              <a:t>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454E48"/>
                </a:solidFill>
                <a:latin typeface="Bahnschrift"/>
                <a:ea typeface="微软雅黑"/>
              </a:rPr>
              <a:t>面向大学生期末复习的一站式智能备考网站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5623560"/>
            <a:ext cx="11094415" cy="0"/>
          </a:xfrm>
          <a:prstGeom prst="line">
            <a:avLst/>
          </a:prstGeom>
          <a:ln w="12700">
            <a:solidFill>
              <a:srgbClr val="D9D4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5806440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C1614"/>
                </a:solidFill>
                <a:latin typeface="Bahnschrift"/>
                <a:ea typeface="微软雅黑"/>
              </a:rPr>
              <a:t>汇报人：刘添屹</a:t>
            </a:r>
            <a:r>
              <a:rPr sz="1100" b="0">
                <a:solidFill>
                  <a:srgbClr val="454E48"/>
                </a:solidFill>
                <a:latin typeface="Bahnschrift"/>
                <a:ea typeface="微软雅黑"/>
              </a:rPr>
              <a:t>    ·    小组成员：刘添屹  许丽媛  胡歆桐  张诗琪  宋跃月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54E48"/>
                </a:solidFill>
                <a:latin typeface="Bahnschrift"/>
                <a:ea typeface="微软雅黑"/>
              </a:rPr>
              <a:t>指导老师：陈正茂    ·    《问题求解实战》课程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Bahnschrift"/>
                <a:ea typeface="微软雅黑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29184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C1614"/>
                </a:solidFill>
                <a:latin typeface="Bahnschrift"/>
                <a:ea typeface="STZhongsong"/>
              </a:rPr>
              <a:t>目录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896112"/>
            <a:ext cx="11094415" cy="0"/>
          </a:xfrm>
          <a:prstGeom prst="line">
            <a:avLst/>
          </a:prstGeom>
          <a:ln w="15875">
            <a:solidFill>
              <a:srgbClr val="0C161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360152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454E48"/>
                </a:solidFill>
                <a:latin typeface="Bahnschrift"/>
                <a:ea typeface="微软雅黑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6187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261872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C1614"/>
                </a:solidFill>
                <a:latin typeface="Bahnschrift"/>
                <a:ea typeface="STZhongsong"/>
              </a:rPr>
              <a:t>项目背景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7510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"/>
                <a:ea typeface="微软雅黑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975104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C1614"/>
                </a:solidFill>
                <a:latin typeface="Bahnschrift"/>
                <a:ea typeface="STZhongsong"/>
              </a:rPr>
              <a:t>项目概述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68833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"/>
                <a:ea typeface="微软雅黑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688336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C1614"/>
                </a:solidFill>
                <a:latin typeface="Bahnschrift"/>
                <a:ea typeface="STZhongsong"/>
              </a:rPr>
              <a:t>主要功能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40156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"/>
                <a:ea typeface="微软雅黑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401568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C1614"/>
                </a:solidFill>
                <a:latin typeface="Bahnschrift"/>
                <a:ea typeface="STZhongsong"/>
              </a:rPr>
              <a:t>核心业务逻辑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11480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"/>
                <a:ea typeface="微软雅黑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114800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C1614"/>
                </a:solidFill>
                <a:latin typeface="Bahnschrift"/>
                <a:ea typeface="STZhongsong"/>
              </a:rPr>
              <a:t>非功能需求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82803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"/>
                <a:ea typeface="微软雅黑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4828032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C1614"/>
                </a:solidFill>
                <a:latin typeface="Bahnschrift"/>
                <a:ea typeface="STZhongsong"/>
              </a:rPr>
              <a:t>原型展示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54126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"/>
                <a:ea typeface="微软雅黑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5541264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C1614"/>
                </a:solidFill>
                <a:latin typeface="Bahnschrift"/>
                <a:ea typeface="STZhongsong"/>
              </a:rPr>
              <a:t>进度与计划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55179" y="1431036"/>
            <a:ext cx="3419856" cy="420624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104888" y="1380744"/>
            <a:ext cx="3419856" cy="4206240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33488" y="1655064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200" b="1">
                <a:solidFill>
                  <a:srgbClr val="F0846B"/>
                </a:solidFill>
                <a:latin typeface="Bahnschrift"/>
                <a:ea typeface="微软雅黑"/>
              </a:rPr>
              <a:t>数字速览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5512" y="2459736"/>
            <a:ext cx="1371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E66348"/>
                </a:solidFill>
                <a:latin typeface="Bahnschrift"/>
                <a:ea typeface="微软雅黑"/>
              </a:rPr>
              <a:t>67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2459736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454E48"/>
                </a:solidFill>
                <a:latin typeface="Bahnschrift"/>
                <a:ea typeface="微软雅黑"/>
              </a:rPr>
              <a:t>条用户需求（连续编号）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3236976"/>
            <a:ext cx="1371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E66348"/>
                </a:solidFill>
                <a:latin typeface="Bahnschrift"/>
                <a:ea typeface="微软雅黑"/>
              </a:rPr>
              <a:t>57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3236976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454E48"/>
                </a:solidFill>
                <a:latin typeface="Bahnschrift"/>
                <a:ea typeface="微软雅黑"/>
              </a:rPr>
              <a:t>个功能用例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5512" y="4014215"/>
            <a:ext cx="1371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E66348"/>
                </a:solidFill>
                <a:latin typeface="Bahnschrift"/>
                <a:ea typeface="微软雅黑"/>
              </a:rPr>
              <a:t>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4014215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454E48"/>
                </a:solidFill>
                <a:latin typeface="Bahnschrift"/>
                <a:ea typeface="微软雅黑"/>
              </a:rPr>
              <a:t>条需求对照记录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25512" y="4791455"/>
            <a:ext cx="1371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E66348"/>
                </a:solidFill>
                <a:latin typeface="Bahnschrift"/>
                <a:ea typeface="微软雅黑"/>
              </a:rPr>
              <a:t>87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791455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454E48"/>
                </a:solidFill>
                <a:latin typeface="Bahnschrift"/>
                <a:ea typeface="微软雅黑"/>
              </a:rPr>
              <a:t>页需求分析文档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Bahnschrift"/>
                <a:ea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29184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C1614"/>
                </a:solidFill>
                <a:latin typeface="Bahnschrift"/>
                <a:ea typeface="STZhongsong"/>
              </a:rPr>
              <a:t>项目背景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896112"/>
            <a:ext cx="11094415" cy="0"/>
          </a:xfrm>
          <a:prstGeom prst="line">
            <a:avLst/>
          </a:prstGeom>
          <a:ln w="15875">
            <a:solidFill>
              <a:srgbClr val="0C161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360152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454E48"/>
                </a:solidFill>
                <a:latin typeface="Bahnschrift"/>
                <a:ea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53878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C1614"/>
                </a:solidFill>
                <a:latin typeface="Bahnschrift"/>
                <a:ea typeface="微软雅黑"/>
              </a:rPr>
              <a:t>期末复习是大学生压力最集中的场景——</a:t>
            </a:r>
            <a:r>
              <a:rPr sz="1400" b="0">
                <a:solidFill>
                  <a:srgbClr val="454E48"/>
                </a:solidFill>
                <a:latin typeface="Bahnschrift"/>
                <a:ea typeface="微软雅黑"/>
              </a:rPr>
              <a:t>复习信息高度分散，学生难以在短时间内整合并制定有效计划。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" y="1650492"/>
            <a:ext cx="2798064" cy="141732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2798064" cy="1417320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13232" y="174650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6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950" b="1">
                <a:solidFill>
                  <a:srgbClr val="B63A2E"/>
                </a:solidFill>
                <a:latin typeface="Bahnschrift"/>
                <a:ea typeface="微软雅黑"/>
              </a:rPr>
              <a:t>难题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67128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C1614"/>
                </a:solidFill>
                <a:latin typeface="Bahnschrift"/>
                <a:ea typeface="微软雅黑"/>
              </a:rPr>
              <a:t>信息分散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考表在教务处网站、重点散落在聊天记录、资料分布在多个渠道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43300" y="1650492"/>
            <a:ext cx="2798064" cy="141732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93008" y="1600200"/>
            <a:ext cx="2798064" cy="1417320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57600" y="174650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6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950" b="1">
                <a:solidFill>
                  <a:srgbClr val="B63A2E"/>
                </a:solidFill>
                <a:latin typeface="Bahnschrift"/>
                <a:ea typeface="微软雅黑"/>
              </a:rPr>
              <a:t>难题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167128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C1614"/>
                </a:solidFill>
                <a:latin typeface="Bahnschrift"/>
                <a:ea typeface="微软雅黑"/>
              </a:rPr>
              <a:t>复习没重点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历年题、笔记、PPT 多源异构，不知道从哪里开始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" y="3223260"/>
            <a:ext cx="2798064" cy="141732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8640" y="3172968"/>
            <a:ext cx="2798064" cy="1417320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13232" y="331927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6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950" b="1">
                <a:solidFill>
                  <a:srgbClr val="B63A2E"/>
                </a:solidFill>
                <a:latin typeface="Bahnschrift"/>
                <a:ea typeface="微软雅黑"/>
              </a:rPr>
              <a:t>难题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739896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C1614"/>
                </a:solidFill>
                <a:latin typeface="Bahnschrift"/>
                <a:ea typeface="微软雅黑"/>
              </a:rPr>
              <a:t>计划靠感觉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缺少科学规划，复习前松后紧、低效反复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43300" y="3223260"/>
            <a:ext cx="2798064" cy="141732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493008" y="3172968"/>
            <a:ext cx="2798064" cy="1417320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657600" y="331927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6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950" b="1">
                <a:solidFill>
                  <a:srgbClr val="B63A2E"/>
                </a:solidFill>
                <a:latin typeface="Bahnschrift"/>
                <a:ea typeface="微软雅黑"/>
              </a:rPr>
              <a:t>难题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739896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C1614"/>
                </a:solidFill>
                <a:latin typeface="Bahnschrift"/>
                <a:ea typeface="微软雅黑"/>
              </a:rPr>
              <a:t>考前很焦虑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任务积压、无从下手，越临近考试越慌乱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9692" y="1650492"/>
            <a:ext cx="5010912" cy="310896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629400" y="1600200"/>
            <a:ext cx="5010912" cy="3108960"/>
          </a:xfrm>
          <a:prstGeom prst="roundRect">
            <a:avLst>
              <a:gd name="adj" fmla="val 6000"/>
            </a:avLst>
          </a:prstGeom>
          <a:solidFill>
            <a:srgbClr val="35554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903720" y="18288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Bahnschrift"/>
                <a:ea typeface="微软雅黑"/>
              </a:rPr>
              <a:t>技术机遇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395728"/>
            <a:ext cx="4480560" cy="993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FFFFFF"/>
                </a:solidFill>
                <a:latin typeface="Bahnschrift"/>
                <a:ea typeface="微软雅黑"/>
              </a:rPr>
              <a:t>大模型技术日趋成熟</a:t>
            </a:r>
            <a:endParaRPr sz="1600" b="1" dirty="0">
              <a:solidFill>
                <a:srgbClr val="FFFFFF"/>
              </a:solidFill>
              <a:latin typeface="Bahnschrift"/>
              <a:ea typeface="微软雅黑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dirty="0">
                <a:solidFill>
                  <a:srgbClr val="D9E4DE"/>
                </a:solidFill>
                <a:latin typeface="Bahnschrift"/>
                <a:ea typeface="微软雅黑"/>
              </a:rPr>
              <a:t>·  </a:t>
            </a:r>
            <a:r>
              <a:rPr sz="1100" b="0" dirty="0" err="1">
                <a:solidFill>
                  <a:srgbClr val="D9E4DE"/>
                </a:solidFill>
                <a:latin typeface="Bahnschrift"/>
                <a:ea typeface="微软雅黑"/>
              </a:rPr>
              <a:t>自然语言</a:t>
            </a:r>
            <a:r>
              <a:rPr sz="1100" b="0" dirty="0">
                <a:solidFill>
                  <a:srgbClr val="D9E4DE"/>
                </a:solidFill>
                <a:latin typeface="Bahnschrift"/>
                <a:ea typeface="微软雅黑"/>
              </a:rPr>
              <a:t> → </a:t>
            </a:r>
            <a:r>
              <a:rPr sz="1100" b="0" dirty="0" err="1">
                <a:solidFill>
                  <a:srgbClr val="D9E4DE"/>
                </a:solidFill>
                <a:latin typeface="Bahnschrift"/>
                <a:ea typeface="微软雅黑"/>
              </a:rPr>
              <a:t>结构化学习画像</a:t>
            </a:r>
            <a:endParaRPr sz="1100" b="0" dirty="0">
              <a:solidFill>
                <a:srgbClr val="D9E4DE"/>
              </a:solidFill>
              <a:latin typeface="Bahnschrift"/>
              <a:ea typeface="微软雅黑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dirty="0">
                <a:solidFill>
                  <a:srgbClr val="D9E4DE"/>
                </a:solidFill>
                <a:latin typeface="Bahnschrift"/>
                <a:ea typeface="微软雅黑"/>
              </a:rPr>
              <a:t>·  </a:t>
            </a:r>
            <a:r>
              <a:rPr sz="1100" b="0" dirty="0" err="1">
                <a:solidFill>
                  <a:srgbClr val="D9E4DE"/>
                </a:solidFill>
                <a:latin typeface="Bahnschrift"/>
                <a:ea typeface="微软雅黑"/>
              </a:rPr>
              <a:t>多源资料</a:t>
            </a:r>
            <a:r>
              <a:rPr sz="1100" b="0" dirty="0">
                <a:solidFill>
                  <a:srgbClr val="D9E4DE"/>
                </a:solidFill>
                <a:latin typeface="Bahnschrift"/>
                <a:ea typeface="微软雅黑"/>
              </a:rPr>
              <a:t> → </a:t>
            </a:r>
            <a:r>
              <a:rPr sz="1100" b="0" dirty="0" err="1">
                <a:solidFill>
                  <a:srgbClr val="D9E4DE"/>
                </a:solidFill>
                <a:latin typeface="Bahnschrift"/>
                <a:ea typeface="微软雅黑"/>
              </a:rPr>
              <a:t>考点与权重分析</a:t>
            </a:r>
            <a:endParaRPr sz="1100" b="0" dirty="0">
              <a:solidFill>
                <a:srgbClr val="D9E4DE"/>
              </a:solidFill>
              <a:latin typeface="Bahnschrift"/>
              <a:ea typeface="微软雅黑"/>
            </a:endParaR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 dirty="0">
                <a:solidFill>
                  <a:srgbClr val="D9E4DE"/>
                </a:solidFill>
                <a:latin typeface="Bahnschrift"/>
                <a:ea typeface="微软雅黑"/>
              </a:rPr>
              <a:t>·  </a:t>
            </a:r>
            <a:r>
              <a:rPr sz="1100" b="0" dirty="0" err="1">
                <a:solidFill>
                  <a:srgbClr val="D9E4DE"/>
                </a:solidFill>
                <a:latin typeface="Bahnschrift"/>
                <a:ea typeface="微软雅黑"/>
              </a:rPr>
              <a:t>个性化生成</a:t>
            </a:r>
            <a:r>
              <a:rPr sz="1100" b="0" dirty="0">
                <a:solidFill>
                  <a:srgbClr val="D9E4DE"/>
                </a:solidFill>
                <a:latin typeface="Bahnschrift"/>
                <a:ea typeface="微软雅黑"/>
              </a:rPr>
              <a:t> → </a:t>
            </a:r>
            <a:r>
              <a:rPr sz="1100" b="0" dirty="0" err="1">
                <a:solidFill>
                  <a:srgbClr val="D9E4DE"/>
                </a:solidFill>
                <a:latin typeface="Bahnschrift"/>
                <a:ea typeface="微软雅黑"/>
              </a:rPr>
              <a:t>复习计划</a:t>
            </a:r>
            <a:r>
              <a:rPr sz="1100" b="0" dirty="0">
                <a:solidFill>
                  <a:srgbClr val="D9E4DE"/>
                </a:solidFill>
                <a:latin typeface="Bahnschrift"/>
                <a:ea typeface="微软雅黑"/>
              </a:rPr>
              <a:t> / </a:t>
            </a:r>
            <a:r>
              <a:rPr sz="1100" b="0" dirty="0" err="1">
                <a:solidFill>
                  <a:srgbClr val="D9E4DE"/>
                </a:solidFill>
                <a:latin typeface="Bahnschrift"/>
                <a:ea typeface="微软雅黑"/>
              </a:rPr>
              <a:t>自测题</a:t>
            </a:r>
            <a:endParaRPr sz="1100" b="0" dirty="0">
              <a:solidFill>
                <a:srgbClr val="D9E4DE"/>
              </a:solidFill>
              <a:latin typeface="Bahnschrift"/>
              <a:ea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98932" y="5079492"/>
            <a:ext cx="11091672" cy="1170432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48640" y="5029200"/>
            <a:ext cx="11091672" cy="1170432"/>
          </a:xfrm>
          <a:prstGeom prst="roundRect">
            <a:avLst>
              <a:gd name="adj" fmla="val 6000"/>
            </a:avLst>
          </a:prstGeom>
          <a:solidFill>
            <a:srgbClr val="F8E1D7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5175504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C2472F"/>
                </a:solidFill>
                <a:latin typeface="Bahnschrift"/>
                <a:ea typeface="微软雅黑"/>
              </a:rPr>
              <a:t>我们的方案：</a:t>
            </a:r>
            <a:r>
              <a:rPr sz="1350" b="1">
                <a:solidFill>
                  <a:srgbClr val="0C1614"/>
                </a:solidFill>
                <a:latin typeface="Bahnschrift"/>
                <a:ea typeface="微软雅黑"/>
              </a:rPr>
              <a:t>打造一站式智能备考网站 —— 上传复习资料 + 描述学习状态，</a:t>
            </a:r>
          </a:p>
          <a:p>
            <a:pPr algn="l"/>
            <a:r>
              <a:rPr sz="1350" b="1">
                <a:solidFill>
                  <a:srgbClr val="0C1614"/>
                </a:solidFill>
                <a:latin typeface="Bahnschrift"/>
                <a:ea typeface="微软雅黑"/>
              </a:rPr>
              <a:t>AI 生成个性化复习重点、按天计划与自测题，每天打卡冲刺期末。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Bahnschrift"/>
                <a:ea typeface="微软雅黑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29184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C1614"/>
                </a:solidFill>
                <a:latin typeface="Bahnschrift"/>
                <a:ea typeface="STZhongsong"/>
              </a:rPr>
              <a:t>项目概述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896112"/>
            <a:ext cx="11094415" cy="0"/>
          </a:xfrm>
          <a:prstGeom prst="line">
            <a:avLst/>
          </a:prstGeom>
          <a:ln w="15875">
            <a:solidFill>
              <a:srgbClr val="0C161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360152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454E48"/>
                </a:solidFill>
                <a:latin typeface="Bahnschrift"/>
                <a:ea typeface="微软雅黑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" y="1147572"/>
            <a:ext cx="11091672" cy="1298448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11091672" cy="1298448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243584"/>
            <a:ext cx="1060704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dirty="0">
                <a:solidFill>
                  <a:srgbClr val="F0846B"/>
                </a:solidFill>
                <a:latin typeface="Bahnschrift"/>
                <a:ea typeface="STZhongsong"/>
              </a:rPr>
              <a:t>「</a:t>
            </a:r>
            <a:r>
              <a:rPr sz="1500" b="1" dirty="0" err="1">
                <a:solidFill>
                  <a:srgbClr val="F0846B"/>
                </a:solidFill>
                <a:latin typeface="Bahnschrift"/>
                <a:ea typeface="STZhongsong"/>
              </a:rPr>
              <a:t>期末周别慌</a:t>
            </a:r>
            <a:r>
              <a:rPr sz="1500" b="1" dirty="0">
                <a:solidFill>
                  <a:srgbClr val="F0846B"/>
                </a:solidFill>
                <a:latin typeface="Bahnschrift"/>
                <a:ea typeface="STZhongsong"/>
              </a:rPr>
              <a:t>！」</a:t>
            </a:r>
            <a:r>
              <a:rPr sz="1250" b="0" dirty="0" err="1">
                <a:solidFill>
                  <a:srgbClr val="FFFFFF"/>
                </a:solidFill>
                <a:latin typeface="Bahnschrift"/>
                <a:ea typeface="微软雅黑"/>
              </a:rPr>
              <a:t>面向大学生期末复习场景：学生上传多源复习资料、描述备考目标与学习状态</a:t>
            </a:r>
            <a:r>
              <a:rPr sz="1250" b="0" dirty="0">
                <a:solidFill>
                  <a:srgbClr val="FFFFFF"/>
                </a:solidFill>
                <a:latin typeface="Bahnschrift"/>
                <a:ea typeface="微软雅黑"/>
              </a:rPr>
              <a:t>，</a:t>
            </a:r>
          </a:p>
          <a:p>
            <a:pPr algn="l">
              <a:lnSpc>
                <a:spcPct val="120000"/>
              </a:lnSpc>
            </a:pPr>
            <a:r>
              <a:rPr sz="1250" b="0" dirty="0" err="1">
                <a:solidFill>
                  <a:srgbClr val="FFFFFF"/>
                </a:solidFill>
                <a:latin typeface="Bahnschrift"/>
                <a:ea typeface="微软雅黑"/>
              </a:rPr>
              <a:t>系统调用大模型生成个性化复习重点、按天计划与自测题，配套打卡与统计，一站式科学备考</a:t>
            </a:r>
            <a:r>
              <a:rPr sz="1250" b="0" dirty="0">
                <a:solidFill>
                  <a:srgbClr val="FFFFFF"/>
                </a:solidFill>
                <a:latin typeface="Bahnschrift"/>
                <a:ea typeface="微软雅黑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7860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C1614"/>
                </a:solidFill>
                <a:latin typeface="Bahnschrift"/>
                <a:ea typeface="STZhongsong"/>
              </a:rPr>
              <a:t>完整复习闭环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" y="3067812"/>
            <a:ext cx="1389888" cy="841248"/>
          </a:xfrm>
          <a:prstGeom prst="roundRect">
            <a:avLst>
              <a:gd name="adj" fmla="val 12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8640" y="3017520"/>
            <a:ext cx="1389888" cy="841248"/>
          </a:xfrm>
          <a:prstGeom prst="roundRect">
            <a:avLst>
              <a:gd name="adj" fmla="val 12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127248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E66348"/>
                </a:solidFill>
                <a:latin typeface="Bahnschrift"/>
                <a:ea typeface="微软雅黑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01568"/>
            <a:ext cx="13898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>
                <a:solidFill>
                  <a:srgbClr val="0C1614"/>
                </a:solidFill>
                <a:latin typeface="Bahnschrift"/>
                <a:ea typeface="微软雅黑"/>
              </a:rPr>
              <a:t>录入考试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200400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E66348"/>
                </a:solidFill>
                <a:latin typeface="Bahnschrift"/>
                <a:ea typeface="微软雅黑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08276" y="3067812"/>
            <a:ext cx="1389888" cy="841248"/>
          </a:xfrm>
          <a:prstGeom prst="roundRect">
            <a:avLst>
              <a:gd name="adj" fmla="val 12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157984" y="3017520"/>
            <a:ext cx="1389888" cy="841248"/>
          </a:xfrm>
          <a:prstGeom prst="roundRect">
            <a:avLst>
              <a:gd name="adj" fmla="val 12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57984" y="3127248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E66348"/>
                </a:solidFill>
                <a:latin typeface="Bahnschrift"/>
                <a:ea typeface="微软雅黑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7984" y="3401568"/>
            <a:ext cx="13898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>
                <a:solidFill>
                  <a:srgbClr val="0C1614"/>
                </a:solidFill>
                <a:latin typeface="Bahnschrift"/>
                <a:ea typeface="微软雅黑"/>
              </a:rPr>
              <a:t>上传资料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3200400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E66348"/>
                </a:solidFill>
                <a:latin typeface="Bahnschrift"/>
                <a:ea typeface="微软雅黑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17620" y="3067812"/>
            <a:ext cx="1389888" cy="841248"/>
          </a:xfrm>
          <a:prstGeom prst="roundRect">
            <a:avLst>
              <a:gd name="adj" fmla="val 12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767328" y="3017520"/>
            <a:ext cx="1389888" cy="841248"/>
          </a:xfrm>
          <a:prstGeom prst="roundRect">
            <a:avLst>
              <a:gd name="adj" fmla="val 12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67328" y="3127248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E66348"/>
                </a:solidFill>
                <a:latin typeface="Bahnschrift"/>
                <a:ea typeface="微软雅黑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67328" y="3401568"/>
            <a:ext cx="13898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>
                <a:solidFill>
                  <a:srgbClr val="0C1614"/>
                </a:solidFill>
                <a:latin typeface="Bahnschrift"/>
                <a:ea typeface="微软雅黑"/>
              </a:rPr>
              <a:t>描述状态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3200400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E66348"/>
                </a:solidFill>
                <a:latin typeface="Bahnschrift"/>
                <a:ea typeface="微软雅黑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26964" y="3067812"/>
            <a:ext cx="1389888" cy="841248"/>
          </a:xfrm>
          <a:prstGeom prst="roundRect">
            <a:avLst>
              <a:gd name="adj" fmla="val 12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376672" y="3017520"/>
            <a:ext cx="1389888" cy="841248"/>
          </a:xfrm>
          <a:prstGeom prst="roundRect">
            <a:avLst>
              <a:gd name="adj" fmla="val 12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76672" y="3127248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E66348"/>
                </a:solidFill>
                <a:latin typeface="Bahnschrift"/>
                <a:ea typeface="微软雅黑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6672" y="3401568"/>
            <a:ext cx="13898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>
                <a:solidFill>
                  <a:srgbClr val="0C1614"/>
                </a:solidFill>
                <a:latin typeface="Bahnschrift"/>
                <a:ea typeface="微软雅黑"/>
              </a:rPr>
              <a:t>AI 提取画像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3200400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E66348"/>
                </a:solidFill>
                <a:latin typeface="Bahnschrift"/>
                <a:ea typeface="微软雅黑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6307" y="3067812"/>
            <a:ext cx="1389888" cy="841248"/>
          </a:xfrm>
          <a:prstGeom prst="roundRect">
            <a:avLst>
              <a:gd name="adj" fmla="val 12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986016" y="3017520"/>
            <a:ext cx="1389888" cy="841248"/>
          </a:xfrm>
          <a:prstGeom prst="roundRect">
            <a:avLst>
              <a:gd name="adj" fmla="val 12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86016" y="3127248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E66348"/>
                </a:solidFill>
                <a:latin typeface="Bahnschrift"/>
                <a:ea typeface="微软雅黑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6" y="3401568"/>
            <a:ext cx="13898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>
                <a:solidFill>
                  <a:srgbClr val="0C1614"/>
                </a:solidFill>
                <a:latin typeface="Bahnschrift"/>
                <a:ea typeface="微软雅黑"/>
              </a:rPr>
              <a:t>生成分析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6" y="3200400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E66348"/>
                </a:solidFill>
                <a:latin typeface="Bahnschrift"/>
                <a:ea typeface="微软雅黑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5652" y="3067812"/>
            <a:ext cx="1389888" cy="841248"/>
          </a:xfrm>
          <a:prstGeom prst="roundRect">
            <a:avLst>
              <a:gd name="adj" fmla="val 12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595360" y="3017520"/>
            <a:ext cx="1389888" cy="841248"/>
          </a:xfrm>
          <a:prstGeom prst="roundRect">
            <a:avLst>
              <a:gd name="adj" fmla="val 12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95360" y="3127248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E66348"/>
                </a:solidFill>
                <a:latin typeface="Bahnschrift"/>
                <a:ea typeface="微软雅黑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3401568"/>
            <a:ext cx="13898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>
                <a:solidFill>
                  <a:srgbClr val="0C1614"/>
                </a:solidFill>
                <a:latin typeface="Bahnschrift"/>
                <a:ea typeface="微软雅黑"/>
              </a:rPr>
              <a:t>每日打卡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3200400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E66348"/>
                </a:solidFill>
                <a:latin typeface="Bahnschrift"/>
                <a:ea typeface="微软雅黑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54996" y="3067812"/>
            <a:ext cx="1389888" cy="841248"/>
          </a:xfrm>
          <a:prstGeom prst="roundRect">
            <a:avLst>
              <a:gd name="adj" fmla="val 12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204704" y="3017520"/>
            <a:ext cx="1389888" cy="841248"/>
          </a:xfrm>
          <a:prstGeom prst="roundRect">
            <a:avLst>
              <a:gd name="adj" fmla="val 12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204704" y="3127248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E66348"/>
                </a:solidFill>
                <a:latin typeface="Bahnschrift"/>
                <a:ea typeface="微软雅黑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04704" y="3401568"/>
            <a:ext cx="13898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>
                <a:solidFill>
                  <a:srgbClr val="0C1614"/>
                </a:solidFill>
                <a:latin typeface="Bahnschrift"/>
                <a:ea typeface="微软雅黑"/>
              </a:rPr>
              <a:t>统计反馈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3986784"/>
            <a:ext cx="11091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>
                <a:solidFill>
                  <a:srgbClr val="454E48"/>
                </a:solidFill>
                <a:latin typeface="Bahnschrift"/>
                <a:ea typeface="微软雅黑"/>
              </a:rPr>
              <a:t>↺  打卡进度与剩余天数变化 → 动态调整计划与权重，形成闭环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48640" y="4480560"/>
            <a:ext cx="11094415" cy="0"/>
          </a:xfrm>
          <a:prstGeom prst="line">
            <a:avLst/>
          </a:prstGeom>
          <a:ln w="12700">
            <a:solidFill>
              <a:srgbClr val="D9D4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48640" y="459028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C1614"/>
                </a:solidFill>
                <a:latin typeface="Bahnschrift"/>
                <a:ea typeface="STZhongsong"/>
              </a:rPr>
              <a:t>系统角色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8932" y="5079492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548640" y="5029200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713232" y="517550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F8E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050" b="1">
                <a:solidFill>
                  <a:srgbClr val="C2472F"/>
                </a:solidFill>
                <a:latin typeface="Bahnschrift"/>
                <a:ea typeface="微软雅黑"/>
              </a:rPr>
              <a:t>学生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82495" y="5138928"/>
            <a:ext cx="213969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454E48"/>
                </a:solidFill>
                <a:latin typeface="Bahnschrift"/>
                <a:ea typeface="微软雅黑"/>
              </a:rPr>
              <a:t>主要使用者：考试 / 资料 / AI 分析 / 打卡 / 特色功能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65091" y="5079492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4114800" y="5029200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4279392" y="517550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F8E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050" b="1">
                <a:solidFill>
                  <a:srgbClr val="C2472F"/>
                </a:solidFill>
                <a:latin typeface="Bahnschrift"/>
                <a:ea typeface="微软雅黑"/>
              </a:rPr>
              <a:t>游客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48656" y="5138928"/>
            <a:ext cx="213969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454E48"/>
                </a:solidFill>
                <a:latin typeface="Bahnschrift"/>
                <a:ea typeface="微软雅黑"/>
              </a:rPr>
              <a:t>仅可注册与登录，注册后成为学生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31252" y="5079492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7680960" y="5029200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7845552" y="517550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F8E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050" b="1">
                <a:solidFill>
                  <a:srgbClr val="C2472F"/>
                </a:solidFill>
                <a:latin typeface="Bahnschrift"/>
                <a:ea typeface="微软雅黑"/>
              </a:rPr>
              <a:t>管理员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14816" y="5138928"/>
            <a:ext cx="213969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454E48"/>
                </a:solidFill>
                <a:latin typeface="Bahnschrift"/>
                <a:ea typeface="微软雅黑"/>
              </a:rPr>
              <a:t>开发小组担任：发布统一考表、维护科目、治理违规内容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292840" y="5029200"/>
            <a:ext cx="384048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646920" y="5138928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spc="100">
                <a:solidFill>
                  <a:srgbClr val="454E48"/>
                </a:solidFill>
                <a:latin typeface="Bahnschrift"/>
                <a:ea typeface="微软雅黑"/>
              </a:rPr>
              <a:t>外部系统</a:t>
            </a:r>
          </a:p>
          <a:p>
            <a:pPr algn="l">
              <a:lnSpc>
                <a:spcPct val="110000"/>
              </a:lnSpc>
            </a:pPr>
            <a:r>
              <a:rPr sz="850" b="0">
                <a:solidFill>
                  <a:srgbClr val="454E48"/>
                </a:solidFill>
                <a:latin typeface="Bahnschrift"/>
                <a:ea typeface="微软雅黑"/>
              </a:rPr>
              <a:t>DeepSeek API</a:t>
            </a:r>
          </a:p>
          <a:p>
            <a:pPr algn="l">
              <a:lnSpc>
                <a:spcPct val="110000"/>
              </a:lnSpc>
            </a:pPr>
            <a:r>
              <a:rPr sz="850" b="0">
                <a:solidFill>
                  <a:srgbClr val="454E48"/>
                </a:solidFill>
                <a:latin typeface="Bahnschrift"/>
                <a:ea typeface="微软雅黑"/>
              </a:rPr>
              <a:t>教务处网站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Bahnschrift"/>
                <a:ea typeface="微软雅黑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29184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C1614"/>
                </a:solidFill>
                <a:latin typeface="Bahnschrift"/>
                <a:ea typeface="STZhongsong"/>
              </a:rPr>
              <a:t>创新点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896112"/>
            <a:ext cx="11094415" cy="0"/>
          </a:xfrm>
          <a:prstGeom prst="line">
            <a:avLst/>
          </a:prstGeom>
          <a:ln w="15875">
            <a:solidFill>
              <a:srgbClr val="0C161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360152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454E48"/>
                </a:solidFill>
                <a:latin typeface="Bahnschrift"/>
                <a:ea typeface="微软雅黑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" y="1467612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57276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E66348"/>
                </a:solidFill>
                <a:latin typeface="Bahnschrift"/>
                <a:ea typeface="微软雅黑"/>
              </a:rPr>
              <a:t>01</a:t>
            </a:r>
            <a:r>
              <a:rPr sz="1500" b="1">
                <a:solidFill>
                  <a:srgbClr val="0C1614"/>
                </a:solidFill>
                <a:latin typeface="Bahnschrift"/>
                <a:ea typeface="STZhongsong"/>
              </a:rPr>
              <a:t>  两级权重体系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12848"/>
            <a:ext cx="32461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54E48"/>
                </a:solidFill>
                <a:latin typeface="Bahnschrift"/>
                <a:ea typeface="微软雅黑"/>
              </a:rPr>
              <a:t>「资料权重 × 知识点权重」分离——可信度与重要性各算各的，分析结果既有依据又有个性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1979" y="1467612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61688" y="1417320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62855" y="157276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E66348"/>
                </a:solidFill>
                <a:latin typeface="Bahnschrift"/>
                <a:ea typeface="微软雅黑"/>
              </a:rPr>
              <a:t>02</a:t>
            </a:r>
            <a:r>
              <a:rPr sz="1500" b="1">
                <a:solidFill>
                  <a:srgbClr val="0C1614"/>
                </a:solidFill>
                <a:latin typeface="Bahnschrift"/>
                <a:ea typeface="STZhongsong"/>
              </a:rPr>
              <a:t>  画像驱动的差异化方案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5" y="2212848"/>
            <a:ext cx="32461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54E48"/>
                </a:solidFill>
                <a:latin typeface="Bahnschrift"/>
                <a:ea typeface="微软雅黑"/>
              </a:rPr>
              <a:t>勾选表单 + 自然语言快速建画像，不同目标与基础得到不同复习策略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5027" y="1467612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74736" y="1417320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75904" y="157276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E66348"/>
                </a:solidFill>
                <a:latin typeface="Bahnschrift"/>
                <a:ea typeface="微软雅黑"/>
              </a:rPr>
              <a:t>03</a:t>
            </a:r>
            <a:r>
              <a:rPr sz="1500" b="1">
                <a:solidFill>
                  <a:srgbClr val="0C1614"/>
                </a:solidFill>
                <a:latin typeface="Bahnschrift"/>
                <a:ea typeface="STZhongsong"/>
              </a:rPr>
              <a:t>  历年题驱动的考点分析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212848"/>
            <a:ext cx="32461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54E48"/>
                </a:solidFill>
                <a:latin typeface="Bahnschrift"/>
                <a:ea typeface="微软雅黑"/>
              </a:rPr>
              <a:t>大模型提取历年题必考点与常考题型，复习重点与自测题贴合真实考试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" y="3753611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8640" y="370332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858768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E66348"/>
                </a:solidFill>
                <a:latin typeface="Bahnschrift"/>
                <a:ea typeface="微软雅黑"/>
              </a:rPr>
              <a:t>04</a:t>
            </a:r>
            <a:r>
              <a:rPr sz="1500" b="1">
                <a:solidFill>
                  <a:srgbClr val="0C1614"/>
                </a:solidFill>
                <a:latin typeface="Bahnschrift"/>
                <a:ea typeface="STZhongsong"/>
              </a:rPr>
              <a:t>  人文关怀功能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80560"/>
            <a:ext cx="4983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54E48"/>
                </a:solidFill>
                <a:latin typeface="Bahnschrift"/>
                <a:ea typeface="微软雅黑"/>
              </a:rPr>
              <a:t>压力指数、临时救急模式、今日最重要的三件事、情绪记录，缓解考前焦虑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6499" y="3753611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36207" y="370332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64807" y="3858768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E66348"/>
                </a:solidFill>
                <a:latin typeface="Bahnschrift"/>
                <a:ea typeface="微软雅黑"/>
              </a:rPr>
              <a:t>05</a:t>
            </a:r>
            <a:r>
              <a:rPr sz="1500" b="1">
                <a:solidFill>
                  <a:srgbClr val="0C1614"/>
                </a:solidFill>
                <a:latin typeface="Bahnschrift"/>
                <a:ea typeface="STZhongsong"/>
              </a:rPr>
              <a:t>  教务处考表一键导入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4480560"/>
            <a:ext cx="4983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54E48"/>
                </a:solidFill>
                <a:latin typeface="Bahnschrift"/>
                <a:ea typeface="微软雅黑"/>
              </a:rPr>
              <a:t>内嵌 WebView 注入脚本读取统一考表，免除手动录入负担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DD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614416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3F6F66"/>
                </a:solidFill>
                <a:latin typeface="Bahnschrift"/>
                <a:ea typeface="微软雅黑"/>
              </a:rPr>
              <a:t>定位差异：</a:t>
            </a:r>
            <a:r>
              <a:rPr sz="1250" b="0">
                <a:solidFill>
                  <a:srgbClr val="0C1614"/>
                </a:solidFill>
                <a:latin typeface="Bahnschrift"/>
                <a:ea typeface="微软雅黑"/>
              </a:rPr>
              <a:t>不做通用日程管理，只做「期末冲刺」这一个场景——与超级课程表、滴答清单等形成差异。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Bahnschrift"/>
                <a:ea typeface="微软雅黑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29184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C1614"/>
                </a:solidFill>
                <a:latin typeface="Bahnschrift"/>
                <a:ea typeface="STZhongsong"/>
              </a:rPr>
              <a:t>主要功能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896112"/>
            <a:ext cx="11094415" cy="0"/>
          </a:xfrm>
          <a:prstGeom prst="line">
            <a:avLst/>
          </a:prstGeom>
          <a:ln w="15875">
            <a:solidFill>
              <a:srgbClr val="0C161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360152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454E48"/>
                </a:solidFill>
                <a:latin typeface="Bahnschrift"/>
                <a:ea typeface="微软雅黑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15568"/>
            <a:ext cx="4846320" cy="475488"/>
          </a:xfrm>
          <a:prstGeom prst="roundRect">
            <a:avLst>
              <a:gd name="adj" fmla="val 50000"/>
            </a:avLst>
          </a:prstGeom>
          <a:solidFill>
            <a:srgbClr val="F8F5EC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115568"/>
            <a:ext cx="457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66348"/>
                </a:solidFill>
                <a:latin typeface="Bahnschrift"/>
                <a:ea typeface="微软雅黑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15568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C1614"/>
                </a:solidFill>
                <a:latin typeface="Bahnschrift"/>
                <a:ea typeface="微软雅黑"/>
              </a:rPr>
              <a:t>公共功能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115568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1">
                <a:solidFill>
                  <a:srgbClr val="8B9084"/>
                </a:solidFill>
                <a:latin typeface="Bahnschrift"/>
                <a:ea typeface="微软雅黑"/>
              </a:rPr>
              <a:t>5 用例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50492"/>
            <a:ext cx="4846320" cy="475488"/>
          </a:xfrm>
          <a:prstGeom prst="roundRect">
            <a:avLst>
              <a:gd name="adj" fmla="val 50000"/>
            </a:avLst>
          </a:prstGeom>
          <a:solidFill>
            <a:srgbClr val="F8F5EC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650492"/>
            <a:ext cx="457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66348"/>
                </a:solidFill>
                <a:latin typeface="Bahnschrift"/>
                <a:ea typeface="微软雅黑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650492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C1614"/>
                </a:solidFill>
                <a:latin typeface="Bahnschrift"/>
                <a:ea typeface="微软雅黑"/>
              </a:rPr>
              <a:t>账号管理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650492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1">
                <a:solidFill>
                  <a:srgbClr val="8B9084"/>
                </a:solidFill>
                <a:latin typeface="Bahnschrift"/>
                <a:ea typeface="微软雅黑"/>
              </a:rPr>
              <a:t>5 用例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85415"/>
            <a:ext cx="4846320" cy="475488"/>
          </a:xfrm>
          <a:prstGeom prst="roundRect">
            <a:avLst>
              <a:gd name="adj" fmla="val 50000"/>
            </a:avLst>
          </a:prstGeom>
          <a:solidFill>
            <a:srgbClr val="F8F5EC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2185415"/>
            <a:ext cx="457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66348"/>
                </a:solidFill>
                <a:latin typeface="Bahnschrift"/>
                <a:ea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185415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C1614"/>
                </a:solidFill>
                <a:latin typeface="Bahnschrift"/>
                <a:ea typeface="微软雅黑"/>
              </a:rPr>
              <a:t>考试与日程管理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185415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1">
                <a:solidFill>
                  <a:srgbClr val="8B9084"/>
                </a:solidFill>
                <a:latin typeface="Bahnschrift"/>
                <a:ea typeface="微软雅黑"/>
              </a:rPr>
              <a:t>13 用例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720339"/>
            <a:ext cx="4846320" cy="475488"/>
          </a:xfrm>
          <a:prstGeom prst="roundRect">
            <a:avLst>
              <a:gd name="adj" fmla="val 50000"/>
            </a:avLst>
          </a:prstGeom>
          <a:solidFill>
            <a:srgbClr val="F8F5EC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2720339"/>
            <a:ext cx="457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66348"/>
                </a:solidFill>
                <a:latin typeface="Bahnschrift"/>
                <a:ea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2720339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C1614"/>
                </a:solidFill>
                <a:latin typeface="Bahnschrift"/>
                <a:ea typeface="微软雅黑"/>
              </a:rPr>
              <a:t>复习资料管理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720339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1">
                <a:solidFill>
                  <a:srgbClr val="8B9084"/>
                </a:solidFill>
                <a:latin typeface="Bahnschrift"/>
                <a:ea typeface="微软雅黑"/>
              </a:rPr>
              <a:t>6 用例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" y="3305556"/>
            <a:ext cx="4846320" cy="475488"/>
          </a:xfrm>
          <a:prstGeom prst="roundRect">
            <a:avLst>
              <a:gd name="adj" fmla="val 50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48640" y="3255263"/>
            <a:ext cx="4846320" cy="475488"/>
          </a:xfrm>
          <a:prstGeom prst="roundRect">
            <a:avLst>
              <a:gd name="adj" fmla="val 50000"/>
            </a:avLst>
          </a:prstGeom>
          <a:solidFill>
            <a:srgbClr val="0C1614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3255263"/>
            <a:ext cx="457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0846B"/>
                </a:solidFill>
                <a:latin typeface="Bahnschrift"/>
                <a:ea typeface="微软雅黑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255263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Bahnschrift"/>
                <a:ea typeface="微软雅黑"/>
              </a:rPr>
              <a:t>AI 智能分析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3255263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1">
                <a:solidFill>
                  <a:srgbClr val="F0846B"/>
                </a:solidFill>
                <a:latin typeface="Bahnschrift"/>
                <a:ea typeface="微软雅黑"/>
              </a:rPr>
              <a:t>14 用例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790187"/>
            <a:ext cx="4846320" cy="475488"/>
          </a:xfrm>
          <a:prstGeom prst="roundRect">
            <a:avLst>
              <a:gd name="adj" fmla="val 50000"/>
            </a:avLst>
          </a:prstGeom>
          <a:solidFill>
            <a:srgbClr val="F8F5EC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3790187"/>
            <a:ext cx="457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66348"/>
                </a:solidFill>
                <a:latin typeface="Bahnschrift"/>
                <a:ea typeface="微软雅黑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3790187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C1614"/>
                </a:solidFill>
                <a:latin typeface="Bahnschrift"/>
                <a:ea typeface="微软雅黑"/>
              </a:rPr>
              <a:t>学习统计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3790187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1">
                <a:solidFill>
                  <a:srgbClr val="8B9084"/>
                </a:solidFill>
                <a:latin typeface="Bahnschrift"/>
                <a:ea typeface="微软雅黑"/>
              </a:rPr>
              <a:t>3 用例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325112"/>
            <a:ext cx="4846320" cy="475488"/>
          </a:xfrm>
          <a:prstGeom prst="roundRect">
            <a:avLst>
              <a:gd name="adj" fmla="val 50000"/>
            </a:avLst>
          </a:prstGeom>
          <a:solidFill>
            <a:srgbClr val="F8F5EC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" y="4325112"/>
            <a:ext cx="457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66348"/>
                </a:solidFill>
                <a:latin typeface="Bahnschrift"/>
                <a:ea typeface="微软雅黑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325112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C1614"/>
                </a:solidFill>
                <a:latin typeface="Bahnschrift"/>
                <a:ea typeface="微软雅黑"/>
              </a:rPr>
              <a:t>提醒通知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4325112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1">
                <a:solidFill>
                  <a:srgbClr val="8B9084"/>
                </a:solidFill>
                <a:latin typeface="Bahnschrift"/>
                <a:ea typeface="微软雅黑"/>
              </a:rPr>
              <a:t>2 用例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860036"/>
            <a:ext cx="4846320" cy="475488"/>
          </a:xfrm>
          <a:prstGeom prst="roundRect">
            <a:avLst>
              <a:gd name="adj" fmla="val 50000"/>
            </a:avLst>
          </a:prstGeom>
          <a:solidFill>
            <a:srgbClr val="F8F5EC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3232" y="4860036"/>
            <a:ext cx="457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66348"/>
                </a:solidFill>
                <a:latin typeface="Bahnschrift"/>
                <a:ea typeface="微软雅黑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4860036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C1614"/>
                </a:solidFill>
                <a:latin typeface="Bahnschrift"/>
                <a:ea typeface="微软雅黑"/>
              </a:rPr>
              <a:t>特色功能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4860036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1">
                <a:solidFill>
                  <a:srgbClr val="8B9084"/>
                </a:solidFill>
                <a:latin typeface="Bahnschrift"/>
                <a:ea typeface="微软雅黑"/>
              </a:rPr>
              <a:t>6 用例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394959"/>
            <a:ext cx="4846320" cy="475488"/>
          </a:xfrm>
          <a:prstGeom prst="roundRect">
            <a:avLst>
              <a:gd name="adj" fmla="val 50000"/>
            </a:avLst>
          </a:prstGeom>
          <a:solidFill>
            <a:srgbClr val="F8F5EC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3232" y="5394959"/>
            <a:ext cx="457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E66348"/>
                </a:solidFill>
                <a:latin typeface="Bahnschrift"/>
                <a:ea typeface="微软雅黑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5394959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C1614"/>
                </a:solidFill>
                <a:latin typeface="Bahnschrift"/>
                <a:ea typeface="微软雅黑"/>
              </a:rPr>
              <a:t>管理端功能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7560" y="5394959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1">
                <a:solidFill>
                  <a:srgbClr val="8B9084"/>
                </a:solidFill>
                <a:latin typeface="Bahnschrift"/>
                <a:ea typeface="微软雅黑"/>
              </a:rPr>
              <a:t>3 用例</a:t>
            </a:r>
          </a:p>
        </p:txBody>
      </p:sp>
      <p:pic>
        <p:nvPicPr>
          <p:cNvPr id="43" name="Picture 42" descr="fig_3_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846" y="1170432"/>
            <a:ext cx="2463465" cy="48006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6400800" y="1078992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9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950" b="1">
                <a:solidFill>
                  <a:srgbClr val="454E48"/>
                </a:solidFill>
                <a:latin typeface="Bahnschrift"/>
                <a:ea typeface="微软雅黑"/>
              </a:rPr>
              <a:t>系统顶层用例图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6053328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1792" y="6053328"/>
            <a:ext cx="25511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0846B"/>
                </a:solidFill>
                <a:latin typeface="Bahnschrift"/>
                <a:ea typeface="微软雅黑"/>
              </a:rPr>
              <a:t>67  </a:t>
            </a:r>
            <a:r>
              <a:rPr sz="1050" b="1">
                <a:solidFill>
                  <a:srgbClr val="FFFFFF"/>
                </a:solidFill>
                <a:latin typeface="Bahnschrift"/>
                <a:ea typeface="微软雅黑"/>
              </a:rPr>
              <a:t>条用户需求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29000" y="6053328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502152" y="6053328"/>
            <a:ext cx="25511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0846B"/>
                </a:solidFill>
                <a:latin typeface="Bahnschrift"/>
                <a:ea typeface="微软雅黑"/>
              </a:rPr>
              <a:t>57  </a:t>
            </a:r>
            <a:r>
              <a:rPr sz="1050" b="1">
                <a:solidFill>
                  <a:srgbClr val="FFFFFF"/>
                </a:solidFill>
                <a:latin typeface="Bahnschrift"/>
                <a:ea typeface="微软雅黑"/>
              </a:rPr>
              <a:t>个功能用例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9359" y="6053328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82512" y="6053328"/>
            <a:ext cx="25511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0846B"/>
                </a:solidFill>
                <a:latin typeface="Bahnschrift"/>
                <a:ea typeface="微软雅黑"/>
              </a:rPr>
              <a:t>72  </a:t>
            </a:r>
            <a:r>
              <a:rPr sz="1050" b="1">
                <a:solidFill>
                  <a:srgbClr val="FFFFFF"/>
                </a:solidFill>
                <a:latin typeface="Bahnschrift"/>
                <a:ea typeface="微软雅黑"/>
              </a:rPr>
              <a:t>条对照记录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89719" y="6053328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262872" y="6053328"/>
            <a:ext cx="25511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0846B"/>
                </a:solidFill>
                <a:latin typeface="Bahnschrift"/>
                <a:ea typeface="微软雅黑"/>
              </a:rPr>
              <a:t>9  </a:t>
            </a:r>
            <a:r>
              <a:rPr sz="1050" b="1">
                <a:solidFill>
                  <a:srgbClr val="FFFFFF"/>
                </a:solidFill>
                <a:latin typeface="Bahnschrift"/>
                <a:ea typeface="微软雅黑"/>
              </a:rPr>
              <a:t>大功能模块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Bahnschrift"/>
                <a:ea typeface="微软雅黑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29184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C1614"/>
                </a:solidFill>
                <a:latin typeface="Bahnschrift"/>
                <a:ea typeface="STZhongsong"/>
              </a:rPr>
              <a:t>核心模块 · AI 智能分析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896112"/>
            <a:ext cx="11094415" cy="0"/>
          </a:xfrm>
          <a:prstGeom prst="line">
            <a:avLst/>
          </a:prstGeom>
          <a:ln w="15875">
            <a:solidFill>
              <a:srgbClr val="0C161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360152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454E48"/>
                </a:solidFill>
                <a:latin typeface="Bahnschrift"/>
                <a:ea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42415"/>
            <a:ext cx="1109167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C1614"/>
                </a:solidFill>
                <a:latin typeface="Bahnschrift"/>
                <a:ea typeface="STZhongsong"/>
              </a:rPr>
              <a:t>从资料到个性化方案：五步链路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" y="1531620"/>
            <a:ext cx="1920240" cy="713232"/>
          </a:xfrm>
          <a:prstGeom prst="roundRect">
            <a:avLst>
              <a:gd name="adj" fmla="val 14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920240" cy="713232"/>
          </a:xfrm>
          <a:prstGeom prst="roundRect">
            <a:avLst>
              <a:gd name="adj" fmla="val 14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59105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E66348"/>
                </a:solidFill>
                <a:latin typeface="Bahnschrift"/>
                <a:ea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>
                <a:solidFill>
                  <a:srgbClr val="0C1614"/>
                </a:solidFill>
                <a:latin typeface="Bahnschrift"/>
                <a:ea typeface="微软雅黑"/>
              </a:rPr>
              <a:t>上传资料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2304" y="1682496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E66348"/>
                </a:solidFill>
                <a:latin typeface="Bahnschrift"/>
                <a:ea typeface="微软雅黑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3492" y="1531620"/>
            <a:ext cx="1920240" cy="713232"/>
          </a:xfrm>
          <a:prstGeom prst="roundRect">
            <a:avLst>
              <a:gd name="adj" fmla="val 14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743200" y="1481328"/>
            <a:ext cx="1920240" cy="713232"/>
          </a:xfrm>
          <a:prstGeom prst="roundRect">
            <a:avLst>
              <a:gd name="adj" fmla="val 14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0" y="159105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E66348"/>
                </a:solidFill>
                <a:latin typeface="Bahnschrift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8288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>
                <a:solidFill>
                  <a:srgbClr val="0C1614"/>
                </a:solidFill>
                <a:latin typeface="Bahnschrift"/>
                <a:ea typeface="微软雅黑"/>
              </a:rPr>
              <a:t>解析文本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1682496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E66348"/>
                </a:solidFill>
                <a:latin typeface="Bahnschrift"/>
                <a:ea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8052" y="1531620"/>
            <a:ext cx="1920240" cy="713232"/>
          </a:xfrm>
          <a:prstGeom prst="roundRect">
            <a:avLst>
              <a:gd name="adj" fmla="val 14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937760" y="1481328"/>
            <a:ext cx="1920240" cy="713232"/>
          </a:xfrm>
          <a:prstGeom prst="roundRect">
            <a:avLst>
              <a:gd name="adj" fmla="val 14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60" y="159105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E66348"/>
                </a:solidFill>
                <a:latin typeface="Bahnschrift"/>
                <a:ea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18288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>
                <a:solidFill>
                  <a:srgbClr val="0C1614"/>
                </a:solidFill>
                <a:latin typeface="Bahnschrift"/>
                <a:ea typeface="微软雅黑"/>
              </a:rPr>
              <a:t>权重计算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1424" y="1682496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E66348"/>
                </a:solidFill>
                <a:latin typeface="Bahnschrift"/>
                <a:ea typeface="微软雅黑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82612" y="1531620"/>
            <a:ext cx="1920240" cy="713232"/>
          </a:xfrm>
          <a:prstGeom prst="roundRect">
            <a:avLst>
              <a:gd name="adj" fmla="val 14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132320" y="1481328"/>
            <a:ext cx="1920240" cy="713232"/>
          </a:xfrm>
          <a:prstGeom prst="roundRect">
            <a:avLst>
              <a:gd name="adj" fmla="val 14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0" y="159105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E66348"/>
                </a:solidFill>
                <a:latin typeface="Bahnschrift"/>
                <a:ea typeface="微软雅黑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18288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>
                <a:solidFill>
                  <a:srgbClr val="0C1614"/>
                </a:solidFill>
                <a:latin typeface="Bahnschrift"/>
                <a:ea typeface="微软雅黑"/>
              </a:rPr>
              <a:t>方案生成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1682496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E66348"/>
                </a:solidFill>
                <a:latin typeface="Bahnschrift"/>
                <a:ea typeface="微软雅黑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77172" y="1531620"/>
            <a:ext cx="1920240" cy="713232"/>
          </a:xfrm>
          <a:prstGeom prst="roundRect">
            <a:avLst>
              <a:gd name="adj" fmla="val 14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326880" y="1481328"/>
            <a:ext cx="1920240" cy="713232"/>
          </a:xfrm>
          <a:prstGeom prst="roundRect">
            <a:avLst>
              <a:gd name="adj" fmla="val 14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26880" y="159105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E66348"/>
                </a:solidFill>
                <a:latin typeface="Bahnschrift"/>
                <a:ea typeface="微软雅黑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18288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>
                <a:solidFill>
                  <a:srgbClr val="0C1614"/>
                </a:solidFill>
                <a:latin typeface="Bahnschrift"/>
                <a:ea typeface="微软雅黑"/>
              </a:rPr>
              <a:t>落为任务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23408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9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950" b="1">
                <a:solidFill>
                  <a:srgbClr val="454E48"/>
                </a:solidFill>
                <a:latin typeface="Bahnschrift"/>
                <a:ea typeface="微软雅黑"/>
              </a:rPr>
              <a:t>固定提示词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38528" y="23408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9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950" b="1">
                <a:solidFill>
                  <a:srgbClr val="454E48"/>
                </a:solidFill>
                <a:latin typeface="Bahnschrift"/>
                <a:ea typeface="微软雅黑"/>
              </a:rPr>
              <a:t>固定 JSON 输出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28416" y="23408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9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950" b="1">
                <a:solidFill>
                  <a:srgbClr val="454E48"/>
                </a:solidFill>
                <a:latin typeface="Bahnschrift"/>
                <a:ea typeface="微软雅黑"/>
              </a:rPr>
              <a:t>失败自动重试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852928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C1614"/>
                </a:solidFill>
                <a:latin typeface="Bahnschrift"/>
                <a:ea typeface="STZhongsong"/>
              </a:rPr>
              <a:t>两级权重体系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8932" y="3250692"/>
            <a:ext cx="5486400" cy="1517904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48640" y="3200400"/>
            <a:ext cx="5486400" cy="1517904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31520" y="3346704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F8E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050" b="1">
                <a:solidFill>
                  <a:srgbClr val="C2472F"/>
                </a:solidFill>
                <a:latin typeface="Bahnschrift"/>
                <a:ea typeface="微软雅黑"/>
              </a:rPr>
              <a:t>资料权重 · 可不可信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3822191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1">
                <a:solidFill>
                  <a:srgbClr val="0C1614"/>
                </a:solidFill>
                <a:latin typeface="Bahnschrift"/>
                <a:ea typeface="微软雅黑"/>
              </a:rPr>
              <a:t>老师标注重点  ＞  历年试题 / 练习题</a:t>
            </a:r>
          </a:p>
          <a:p>
            <a:pPr algn="l">
              <a:lnSpc>
                <a:spcPct val="125000"/>
              </a:lnSpc>
            </a:pPr>
            <a:r>
              <a:rPr sz="1150" b="1">
                <a:solidFill>
                  <a:srgbClr val="454E48"/>
                </a:solidFill>
                <a:latin typeface="Bahnschrift"/>
                <a:ea typeface="微软雅黑"/>
              </a:rPr>
              <a:t>＞  平时作业 / 课堂笔记  ＞  教材章节 / PPT / 实验报告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932" y="4878324"/>
            <a:ext cx="5486400" cy="1316736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48640" y="4828032"/>
            <a:ext cx="5486400" cy="1316736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31520" y="4974336"/>
            <a:ext cx="2240280" cy="347472"/>
          </a:xfrm>
          <a:prstGeom prst="roundRect">
            <a:avLst>
              <a:gd name="adj" fmla="val 50000"/>
            </a:avLst>
          </a:prstGeom>
          <a:solidFill>
            <a:srgbClr val="DF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050" b="1">
                <a:solidFill>
                  <a:srgbClr val="35554C"/>
                </a:solidFill>
                <a:latin typeface="Bahnschrift"/>
                <a:ea typeface="微软雅黑"/>
              </a:rPr>
              <a:t>知识点权重 · 重不重要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449824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0C1614"/>
                </a:solidFill>
                <a:latin typeface="Bahnschrift"/>
                <a:ea typeface="微软雅黑"/>
              </a:rPr>
              <a:t>历年题必考点 → 基础值 → 用户画像调整（目标 · 薄弱章节）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852928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C1614"/>
                </a:solidFill>
                <a:latin typeface="Bahnschrift"/>
                <a:ea typeface="STZhongsong"/>
              </a:rPr>
              <a:t>分级推荐策略 · 三档备考目标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3200400"/>
            <a:ext cx="5376672" cy="749808"/>
          </a:xfrm>
          <a:prstGeom prst="roundRect">
            <a:avLst>
              <a:gd name="adj" fmla="val 50000"/>
            </a:avLst>
          </a:prstGeom>
          <a:solidFill>
            <a:srgbClr val="DFE8E2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46520" y="3200400"/>
            <a:ext cx="12344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35554C"/>
                </a:solidFill>
                <a:latin typeface="Bahnschrift"/>
                <a:ea typeface="STZhongsong"/>
              </a:rPr>
              <a:t>保及格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273552"/>
            <a:ext cx="3931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基础薄弱者优先：高频基础考点，拿稳基本分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63640" y="4059935"/>
            <a:ext cx="5376672" cy="749808"/>
          </a:xfrm>
          <a:prstGeom prst="roundRect">
            <a:avLst>
              <a:gd name="adj" fmla="val 50000"/>
            </a:avLst>
          </a:prstGeom>
          <a:solidFill>
            <a:srgbClr val="F2E7CF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46520" y="4059935"/>
            <a:ext cx="12344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A06A22"/>
                </a:solidFill>
                <a:latin typeface="Bahnschrift"/>
                <a:ea typeface="STZhongsong"/>
              </a:rPr>
              <a:t>稳中等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4133087"/>
            <a:ext cx="3931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常规考点全覆盖，按权重均衡安排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63640" y="4919471"/>
            <a:ext cx="5376672" cy="749808"/>
          </a:xfrm>
          <a:prstGeom prst="roundRect">
            <a:avLst>
              <a:gd name="adj" fmla="val 50000"/>
            </a:avLst>
          </a:prstGeom>
          <a:solidFill>
            <a:srgbClr val="F8E1D7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46520" y="4919471"/>
            <a:ext cx="12344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C2472F"/>
                </a:solidFill>
                <a:latin typeface="Bahnschrift"/>
                <a:ea typeface="STZhongsong"/>
              </a:rPr>
              <a:t>冲高分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4992623"/>
            <a:ext cx="3931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综合题与难题专项，追求高覆盖率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63640" y="5815584"/>
            <a:ext cx="5376672" cy="457200"/>
          </a:xfrm>
          <a:prstGeom prst="roundRect">
            <a:avLst>
              <a:gd name="adj" fmla="val 50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46520" y="5815584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0846B"/>
                </a:solidFill>
                <a:latin typeface="Bahnschrift"/>
                <a:ea typeface="微软雅黑"/>
              </a:rPr>
              <a:t>输出：复习提纲 · 知识点权重 · 按天计划 · 自测题 —— 每个结论带依据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Bahnschrift"/>
                <a:ea typeface="微软雅黑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29184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C1614"/>
                </a:solidFill>
                <a:latin typeface="Bahnschrift"/>
                <a:ea typeface="STZhongsong"/>
              </a:rPr>
              <a:t>特色功能与核心公式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896112"/>
            <a:ext cx="11094415" cy="0"/>
          </a:xfrm>
          <a:prstGeom prst="line">
            <a:avLst/>
          </a:prstGeom>
          <a:ln w="15875">
            <a:solidFill>
              <a:srgbClr val="0C161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360152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454E48"/>
                </a:solidFill>
                <a:latin typeface="Bahnschrift"/>
                <a:ea typeface="微软雅黑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42415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0C1614"/>
                </a:solidFill>
                <a:latin typeface="Bahnschrift"/>
                <a:ea typeface="STZhongsong"/>
              </a:rPr>
              <a:t>期末压力指数（0~100）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" y="1476756"/>
            <a:ext cx="5989320" cy="265176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426464"/>
            <a:ext cx="5989320" cy="265176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91056"/>
            <a:ext cx="5486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Bahnschrift"/>
                <a:ea typeface="微软雅黑"/>
              </a:rPr>
              <a:t>压力指数 = </a:t>
            </a:r>
            <a:r>
              <a:rPr sz="1400" b="1">
                <a:solidFill>
                  <a:srgbClr val="F0846B"/>
                </a:solidFill>
                <a:latin typeface="Bahnschrift"/>
                <a:ea typeface="微软雅黑"/>
              </a:rPr>
              <a:t>30×密集度 + 30×积压率 + 20×(1−完成率) + 20×临近度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04288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F0846B"/>
                </a:solidFill>
                <a:latin typeface="Bahnschrift"/>
                <a:ea typeface="微软雅黑"/>
              </a:rPr>
              <a:t>考试密集度  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Bahnschrift"/>
                <a:ea typeface="微软雅黑"/>
              </a:rPr>
              <a:t>min(1, 未来 7 天考试数 ÷ 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8" y="2304288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F0846B"/>
                </a:solidFill>
                <a:latin typeface="Bahnschrift"/>
                <a:ea typeface="微软雅黑"/>
              </a:rPr>
              <a:t>任务积压率  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Bahnschrift"/>
                <a:ea typeface="微软雅黑"/>
              </a:rPr>
              <a:t>逾期未完成任务数 ÷ 总任务数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F0846B"/>
                </a:solidFill>
                <a:latin typeface="Bahnschrift"/>
                <a:ea typeface="微软雅黑"/>
              </a:rPr>
              <a:t>任务完成率  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Bahnschrift"/>
                <a:ea typeface="微软雅黑"/>
              </a:rPr>
              <a:t>已完成任务数 ÷ 总任务数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310896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F0846B"/>
                </a:solidFill>
                <a:latin typeface="Bahnschrift"/>
                <a:ea typeface="微软雅黑"/>
              </a:rPr>
              <a:t>考试临近度  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Bahnschrift"/>
                <a:ea typeface="微软雅黑"/>
              </a:rPr>
              <a:t>min(1, 21 ÷ 最近考试剩余天数)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913632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B9C9C1"/>
                </a:solidFill>
                <a:latin typeface="Bahnschrift"/>
                <a:ea typeface="微软雅黑"/>
              </a:rPr>
              <a:t>边界约定：无考试取 0 · 考试当天取 1 · 无任务取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" y="4576572"/>
            <a:ext cx="5989320" cy="932688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8640" y="4526280"/>
            <a:ext cx="5989320" cy="932688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654296"/>
            <a:ext cx="5623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1">
                <a:solidFill>
                  <a:srgbClr val="0C1614"/>
                </a:solidFill>
                <a:latin typeface="Bahnschrift"/>
                <a:ea typeface="微软雅黑"/>
              </a:rPr>
              <a:t>每日定时计算，按档提示：</a:t>
            </a:r>
            <a:r>
              <a:rPr sz="1050" b="1">
                <a:solidFill>
                  <a:srgbClr val="454E48"/>
                </a:solidFill>
                <a:latin typeface="Bahnschrift"/>
                <a:ea typeface="微软雅黑"/>
              </a:rPr>
              <a:t>&lt;40 轻松 · 40~60 适中 · 60~80 偏压 · ≥80 高压</a:t>
            </a:r>
          </a:p>
          <a:p>
            <a:pPr algn="l">
              <a:lnSpc>
                <a:spcPct val="110000"/>
              </a:lnSpc>
            </a:pPr>
            <a:r>
              <a:rPr sz="950" b="1">
                <a:solidFill>
                  <a:srgbClr val="C2472F"/>
                </a:solidFill>
                <a:latin typeface="Bahnschrift"/>
                <a:ea typeface="微软雅黑"/>
              </a:rPr>
              <a:t>≥70 建议开启救急模式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042415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0C1614"/>
                </a:solidFill>
                <a:latin typeface="Bahnschrift"/>
                <a:ea typeface="STZhongsong"/>
              </a:rPr>
              <a:t>情绪综合评分（0~5）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6852" y="1476756"/>
            <a:ext cx="4873752" cy="1883664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766560" y="1426464"/>
            <a:ext cx="4873752" cy="1883664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67728" y="1572768"/>
            <a:ext cx="4480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0C1614"/>
                </a:solidFill>
                <a:latin typeface="Bahnschrift"/>
                <a:ea typeface="微软雅黑"/>
              </a:rPr>
              <a:t>0.4×情绪项 + 0.3×完成项 + 0.2×压力项 + 0.1×达标项</a:t>
            </a:r>
          </a:p>
          <a:p>
            <a:pPr algn="l">
              <a:lnSpc>
                <a:spcPct val="110000"/>
              </a:lnSpc>
            </a:pPr>
            <a:r>
              <a:rPr sz="950" b="1">
                <a:solidFill>
                  <a:srgbClr val="35554C"/>
                </a:solidFill>
                <a:latin typeface="Bahnschrift"/>
                <a:ea typeface="微软雅黑"/>
              </a:rPr>
              <a:t>四个分项均归一化到 0~5，总分数学上精确落在 0~5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2450592"/>
            <a:ext cx="4480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情绪项 = 5×(自评−1)÷4    完成项 = 5×当日完成率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压力项 = 5−压力指数÷20   达标项 = 5×min(连续达标天数,7)÷7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529584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C1614"/>
                </a:solidFill>
                <a:latin typeface="Bahnschrift"/>
                <a:ea typeface="STZhongsong"/>
              </a:rPr>
              <a:t>其他特色功能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3895344"/>
            <a:ext cx="4873752" cy="457200"/>
          </a:xfrm>
          <a:prstGeom prst="roundRect">
            <a:avLst>
              <a:gd name="adj" fmla="val 50000"/>
            </a:avLst>
          </a:prstGeom>
          <a:solidFill>
            <a:srgbClr val="F8F5EC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31152" y="3895344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54E48"/>
                </a:solidFill>
                <a:latin typeface="Bahnschrift"/>
                <a:ea typeface="微软雅黑"/>
              </a:rPr>
              <a:t>临时救急模式：时间紧张时聚焦高频基础考点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0" y="4443983"/>
            <a:ext cx="4873752" cy="457200"/>
          </a:xfrm>
          <a:prstGeom prst="roundRect">
            <a:avLst>
              <a:gd name="adj" fmla="val 50000"/>
            </a:avLst>
          </a:prstGeom>
          <a:solidFill>
            <a:srgbClr val="F8F5EC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31152" y="4443983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54E48"/>
                </a:solidFill>
                <a:latin typeface="Bahnschrift"/>
                <a:ea typeface="微软雅黑"/>
              </a:rPr>
              <a:t>今日最重要的三件事：权重 × 截止时间 × 压力指数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0" y="4992623"/>
            <a:ext cx="4873752" cy="457200"/>
          </a:xfrm>
          <a:prstGeom prst="roundRect">
            <a:avLst>
              <a:gd name="adj" fmla="val 50000"/>
            </a:avLst>
          </a:prstGeom>
          <a:solidFill>
            <a:srgbClr val="F8F5EC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31152" y="4992623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54E48"/>
                </a:solidFill>
                <a:latin typeface="Bahnschrift"/>
                <a:ea typeface="微软雅黑"/>
              </a:rPr>
              <a:t>考前重点回顾列表 · 情绪记录与节奏建议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0" y="5541263"/>
            <a:ext cx="4873752" cy="457200"/>
          </a:xfrm>
          <a:prstGeom prst="roundRect">
            <a:avLst>
              <a:gd name="adj" fmla="val 50000"/>
            </a:avLst>
          </a:prstGeom>
          <a:solidFill>
            <a:srgbClr val="F8F5EC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31152" y="5541263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454E48"/>
                </a:solidFill>
                <a:latin typeface="Bahnschrift"/>
                <a:ea typeface="微软雅黑"/>
              </a:rPr>
              <a:t>学习时段推荐：按画像分配每日复习时段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Bahnschrift"/>
                <a:ea typeface="微软雅黑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29184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C1614"/>
                </a:solidFill>
                <a:latin typeface="Bahnschrift"/>
                <a:ea typeface="STZhongsong"/>
              </a:rPr>
              <a:t>非功能需求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896112"/>
            <a:ext cx="11094415" cy="0"/>
          </a:xfrm>
          <a:prstGeom prst="line">
            <a:avLst/>
          </a:prstGeom>
          <a:ln w="15875">
            <a:solidFill>
              <a:srgbClr val="0C161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360152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454E48"/>
                </a:solidFill>
                <a:latin typeface="Bahnschrift"/>
                <a:ea typeface="微软雅黑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" y="1257300"/>
            <a:ext cx="3611880" cy="461772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207008"/>
            <a:ext cx="3611880" cy="4617720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Bahnschrift"/>
                <a:ea typeface="微软雅黑"/>
              </a:rPr>
              <a:t>性能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75104"/>
            <a:ext cx="324612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0">
                <a:solidFill>
                  <a:srgbClr val="454E48"/>
                </a:solidFill>
                <a:latin typeface="Bahnschrift"/>
                <a:ea typeface="微软雅黑"/>
              </a:rPr>
              <a:t>·  数据库操作响应 ≤ 2 秒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0">
                <a:solidFill>
                  <a:srgbClr val="454E48"/>
                </a:solidFill>
                <a:latin typeface="Bahnschrift"/>
                <a:ea typeface="微软雅黑"/>
              </a:rPr>
              <a:t>·  页面加载 ≤ 4 秒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0">
                <a:solidFill>
                  <a:srgbClr val="454E48"/>
                </a:solidFill>
                <a:latin typeface="Bahnschrift"/>
                <a:ea typeface="微软雅黑"/>
              </a:rPr>
              <a:t>·  20MB 文件上传受理 ≤ 10 秒，解析后台异步完成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0">
                <a:solidFill>
                  <a:srgbClr val="454E48"/>
                </a:solidFill>
                <a:latin typeface="Bahnschrift"/>
                <a:ea typeface="微软雅黑"/>
              </a:rPr>
              <a:t>·  AI 分析 10~60 秒异步执行，不阻塞用户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0">
                <a:solidFill>
                  <a:srgbClr val="454E48"/>
                </a:solidFill>
                <a:latin typeface="Bahnschrift"/>
                <a:ea typeface="微软雅黑"/>
              </a:rPr>
              <a:t>·  支持 50 名用户并发使用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0">
                <a:solidFill>
                  <a:srgbClr val="454E48"/>
                </a:solidFill>
                <a:latin typeface="Bahnschrift"/>
                <a:ea typeface="微软雅黑"/>
              </a:rPr>
              <a:t>·  压力指数、周报每日凌晨定时计算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1979" y="1257300"/>
            <a:ext cx="3611880" cy="461772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61688" y="1207008"/>
            <a:ext cx="3611880" cy="4617720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44568" y="137160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355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Bahnschrift"/>
                <a:ea typeface="微软雅黑"/>
              </a:rPr>
              <a:t>安全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75104"/>
            <a:ext cx="324612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0">
                <a:solidFill>
                  <a:srgbClr val="454E48"/>
                </a:solidFill>
                <a:latin typeface="Bahnschrift"/>
                <a:ea typeface="微软雅黑"/>
              </a:rPr>
              <a:t>·  密码 bcrypt 哈希存储，不明文传输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0">
                <a:solidFill>
                  <a:srgbClr val="454E48"/>
                </a:solidFill>
                <a:latin typeface="Bahnschrift"/>
                <a:ea typeface="微软雅黑"/>
              </a:rPr>
              <a:t>·  JWT 会话鉴权，有效期 7 天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0">
                <a:solidFill>
                  <a:srgbClr val="454E48"/>
                </a:solidFill>
                <a:latin typeface="Bahnschrift"/>
                <a:ea typeface="微软雅黑"/>
              </a:rPr>
              <a:t>·  全站 HTTPS；API Key 仅存后端环境变量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0">
                <a:solidFill>
                  <a:srgbClr val="454E48"/>
                </a:solidFill>
                <a:latin typeface="Bahnschrift"/>
                <a:ea typeface="微软雅黑"/>
              </a:rPr>
              <a:t>·  所有查询强制 user_id 过滤（数据隔离）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0">
                <a:solidFill>
                  <a:srgbClr val="454E48"/>
                </a:solidFill>
                <a:latin typeface="Bahnschrift"/>
                <a:ea typeface="微软雅黑"/>
              </a:rPr>
              <a:t>·  连续 3 次密码错误锁定账号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0">
                <a:solidFill>
                  <a:srgbClr val="454E48"/>
                </a:solidFill>
                <a:latin typeface="Bahnschrift"/>
                <a:ea typeface="微软雅黑"/>
              </a:rPr>
              <a:t>·  删除 / 注销二次确认 + 关键操作日志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5027" y="1257300"/>
            <a:ext cx="3611880" cy="461772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74736" y="1207008"/>
            <a:ext cx="3611880" cy="4617720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357615" y="137160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3F6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Bahnschrift"/>
                <a:ea typeface="微软雅黑"/>
              </a:rPr>
              <a:t>可靠与易用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5" y="1975104"/>
            <a:ext cx="324612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0">
                <a:solidFill>
                  <a:srgbClr val="454E48"/>
                </a:solidFill>
                <a:latin typeface="Bahnschrift"/>
                <a:ea typeface="微软雅黑"/>
              </a:rPr>
              <a:t>·  大模型调用超时 60 秒，失败自动重试 1 次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0">
                <a:solidFill>
                  <a:srgbClr val="454E48"/>
                </a:solidFill>
                <a:latin typeface="Bahnschrift"/>
                <a:ea typeface="微软雅黑"/>
              </a:rPr>
              <a:t>·  服务不可用时降级提示，Mock 模式保演示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0">
                <a:solidFill>
                  <a:srgbClr val="454E48"/>
                </a:solidFill>
                <a:latin typeface="Bahnschrift"/>
                <a:ea typeface="微软雅黑"/>
              </a:rPr>
              <a:t>·  数据库与上传文件每日定时备份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0">
                <a:solidFill>
                  <a:srgbClr val="454E48"/>
                </a:solidFill>
                <a:latin typeface="Bahnschrift"/>
                <a:ea typeface="微软雅黑"/>
              </a:rPr>
              <a:t>·  现代浏览器全兼容，移动端响应式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0">
                <a:solidFill>
                  <a:srgbClr val="454E48"/>
                </a:solidFill>
                <a:latin typeface="Bahnschrift"/>
                <a:ea typeface="微软雅黑"/>
              </a:rPr>
              <a:t>·  编辑杂志风设计语言，操作路径短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0">
                <a:solidFill>
                  <a:srgbClr val="454E48"/>
                </a:solidFill>
                <a:latin typeface="Bahnschrift"/>
                <a:ea typeface="微软雅黑"/>
              </a:rPr>
              <a:t>·  AI 内容固定展示「仅供复习参考」提示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Bahnschrift"/>
                <a:ea typeface="微软雅黑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29184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C1614"/>
                </a:solidFill>
                <a:latin typeface="Bahnschrift"/>
                <a:ea typeface="STZhongsong"/>
              </a:rPr>
              <a:t>数据描述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896112"/>
            <a:ext cx="11094415" cy="0"/>
          </a:xfrm>
          <a:prstGeom prst="line">
            <a:avLst/>
          </a:prstGeom>
          <a:ln w="15875">
            <a:solidFill>
              <a:srgbClr val="0C161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360152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454E48"/>
                </a:solidFill>
                <a:latin typeface="Bahnschrift"/>
                <a:ea typeface="微软雅黑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" y="1421892"/>
            <a:ext cx="3611880" cy="1719072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611880" cy="1719072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C1614"/>
                </a:solidFill>
                <a:latin typeface="Bahnschrift"/>
                <a:ea typeface="微软雅黑"/>
              </a:rPr>
              <a:t>users</a:t>
            </a:r>
            <a:r>
              <a:rPr sz="1250" b="1">
                <a:solidFill>
                  <a:srgbClr val="C2472F"/>
                </a:solidFill>
                <a:latin typeface="Bahnschrift"/>
                <a:ea typeface="微软雅黑"/>
              </a:rPr>
              <a:t>   用户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38528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账号（唯一）· bcrypt 密码哈希 · 昵称 / 学号 / 专业 / 年级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1979" y="1421892"/>
            <a:ext cx="3611880" cy="1719072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61688" y="1371600"/>
            <a:ext cx="3611880" cy="1719072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499616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C1614"/>
                </a:solidFill>
                <a:latin typeface="Bahnschrift"/>
                <a:ea typeface="微软雅黑"/>
              </a:rPr>
              <a:t>exams</a:t>
            </a:r>
            <a:r>
              <a:rPr sz="1250" b="1">
                <a:solidFill>
                  <a:srgbClr val="C2472F"/>
                </a:solidFill>
                <a:latin typeface="Bahnschrift"/>
                <a:ea typeface="微软雅黑"/>
              </a:rPr>
              <a:t>   考试安排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38528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科目 · 考试日期 · 地点 · 时长 · 备注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5027" y="1421892"/>
            <a:ext cx="3611880" cy="1719072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74736" y="1371600"/>
            <a:ext cx="3611880" cy="1719072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57615" y="1499616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C1614"/>
                </a:solidFill>
                <a:latin typeface="Bahnschrift"/>
                <a:ea typeface="微软雅黑"/>
              </a:rPr>
              <a:t>materials</a:t>
            </a:r>
            <a:r>
              <a:rPr sz="1250" b="1">
                <a:solidFill>
                  <a:srgbClr val="C2472F"/>
                </a:solidFill>
                <a:latin typeface="Bahnschrift"/>
                <a:ea typeface="微软雅黑"/>
              </a:rPr>
              <a:t>   复习资料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5" y="1938528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标题 · 来源类型 · 文件与解析文本 · 标签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" y="3342132"/>
            <a:ext cx="3611880" cy="1719072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8640" y="3291840"/>
            <a:ext cx="3611880" cy="1719072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419856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C1614"/>
                </a:solidFill>
                <a:latin typeface="Bahnschrift"/>
                <a:ea typeface="微软雅黑"/>
              </a:rPr>
              <a:t>user_profiles</a:t>
            </a:r>
            <a:r>
              <a:rPr sz="1250" b="1">
                <a:solidFill>
                  <a:srgbClr val="C2472F"/>
                </a:solidFill>
                <a:latin typeface="Bahnschrift"/>
                <a:ea typeface="微软雅黑"/>
              </a:rPr>
              <a:t>   学习画像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858768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备考目标 · 学习基础 · 剩余天数 · 薄弱章节(JSON)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1979" y="3342132"/>
            <a:ext cx="3611880" cy="1719072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361688" y="3291840"/>
            <a:ext cx="3611880" cy="1719072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44568" y="3419856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C1614"/>
                </a:solidFill>
                <a:latin typeface="Bahnschrift"/>
                <a:ea typeface="微软雅黑"/>
              </a:rPr>
              <a:t>analyses</a:t>
            </a:r>
            <a:r>
              <a:rPr sz="1250" b="1">
                <a:solidFill>
                  <a:srgbClr val="C2472F"/>
                </a:solidFill>
                <a:latin typeface="Bahnschrift"/>
                <a:ea typeface="微软雅黑"/>
              </a:rPr>
              <a:t>   分析结果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3858768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固定 JSON：权重 / 提纲 / 按天计划 / 自测题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5027" y="3342132"/>
            <a:ext cx="3611880" cy="1719072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174736" y="3291840"/>
            <a:ext cx="3611880" cy="1719072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57615" y="3419856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C1614"/>
                </a:solidFill>
                <a:latin typeface="Bahnschrift"/>
                <a:ea typeface="微软雅黑"/>
              </a:rPr>
              <a:t>tasks</a:t>
            </a:r>
            <a:r>
              <a:rPr sz="1250" b="1">
                <a:solidFill>
                  <a:srgbClr val="C2472F"/>
                </a:solidFill>
                <a:latin typeface="Bahnschrift"/>
                <a:ea typeface="微软雅黑"/>
              </a:rPr>
              <a:t>   学习任务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5" y="3858768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所属考试 · 计划日期 · 时长 · 优先级 · 完成状态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932" y="5335524"/>
            <a:ext cx="11091672" cy="713232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48640" y="5285232"/>
            <a:ext cx="11091672" cy="713232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5285232"/>
            <a:ext cx="106070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F0846B"/>
                </a:solidFill>
                <a:latin typeface="Bahnschrift"/>
                <a:ea typeface="微软雅黑"/>
              </a:rPr>
              <a:t>数据约束：</a:t>
            </a:r>
            <a:r>
              <a:rPr sz="1100" b="0">
                <a:solidFill>
                  <a:srgbClr val="FFFFFF"/>
                </a:solidFill>
                <a:latin typeface="Bahnschrift"/>
                <a:ea typeface="微软雅黑"/>
              </a:rPr>
              <a:t>账号 / 学号唯一 · 增删改走事务 · 外键约束明确 · JSON Schema + Pydantic 双重校验 · 浮点两位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Bahnschrift"/>
                <a:ea typeface="微软雅黑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29184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C1614"/>
                </a:solidFill>
                <a:latin typeface="Bahnschrift"/>
                <a:ea typeface="STZhongsong"/>
              </a:rPr>
              <a:t>需求分析成果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896112"/>
            <a:ext cx="11094415" cy="0"/>
          </a:xfrm>
          <a:prstGeom prst="line">
            <a:avLst/>
          </a:prstGeom>
          <a:ln w="15875">
            <a:solidFill>
              <a:srgbClr val="0C161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360152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454E48"/>
                </a:solidFill>
                <a:latin typeface="Bahnschrift"/>
                <a:ea typeface="微软雅黑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" y="1467612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>
                <a:solidFill>
                  <a:srgbClr val="E66348"/>
                </a:solidFill>
                <a:latin typeface="Bahnschrift"/>
                <a:ea typeface="微软雅黑"/>
              </a:rPr>
              <a:t>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0C1614"/>
                </a:solidFill>
                <a:latin typeface="Bahnschrift"/>
                <a:ea typeface="STZhongsong"/>
              </a:rPr>
              <a:t>条用户需求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454E48"/>
                </a:solidFill>
                <a:latin typeface="Bahnschrift"/>
                <a:ea typeface="微软雅黑"/>
              </a:rPr>
              <a:t>FMZH-USR-0001 ~ 0067 连续编号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9292" y="1467612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2900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169164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>
                <a:solidFill>
                  <a:srgbClr val="E66348"/>
                </a:solidFill>
                <a:latin typeface="Bahnschrift"/>
                <a:ea typeface="微软雅黑"/>
              </a:rPr>
              <a:t>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51460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0C1614"/>
                </a:solidFill>
                <a:latin typeface="Bahnschrift"/>
                <a:ea typeface="STZhongsong"/>
              </a:rPr>
              <a:t>个功能用例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92608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454E48"/>
                </a:solidFill>
                <a:latin typeface="Bahnschrift"/>
                <a:ea typeface="微软雅黑"/>
              </a:rPr>
              <a:t>FMZH-SRS-0.1.0 ~ 8.3.0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9651" y="1467612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09359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59" y="169164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>
                <a:solidFill>
                  <a:srgbClr val="E66348"/>
                </a:solidFill>
                <a:latin typeface="Bahnschrift"/>
                <a:ea typeface="微软雅黑"/>
              </a:rPr>
              <a:t>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51460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0C1614"/>
                </a:solidFill>
                <a:latin typeface="Bahnschrift"/>
                <a:ea typeface="STZhongsong"/>
              </a:rPr>
              <a:t>条对照记录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92608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454E48"/>
                </a:solidFill>
                <a:latin typeface="Bahnschrift"/>
                <a:ea typeface="微软雅黑"/>
              </a:rPr>
              <a:t>67 条用户需求 + 5 条隐藏需求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40011" y="1467612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89719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9719" y="169164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>
                <a:solidFill>
                  <a:srgbClr val="E66348"/>
                </a:solidFill>
                <a:latin typeface="Bahnschrift"/>
                <a:ea typeface="微软雅黑"/>
              </a:rPr>
              <a:t>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251460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0C1614"/>
                </a:solidFill>
                <a:latin typeface="Bahnschrift"/>
                <a:ea typeface="STZhongsong"/>
              </a:rPr>
              <a:t>页 · V1.2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92608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454E48"/>
                </a:solidFill>
                <a:latin typeface="Bahnschrift"/>
                <a:ea typeface="微软雅黑"/>
              </a:rPr>
              <a:t>9 章 · 78 张表 · 68 张 UML 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" y="4119372"/>
            <a:ext cx="6035040" cy="210312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48640" y="4069080"/>
            <a:ext cx="6035040" cy="2103120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42611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C1614"/>
                </a:solidFill>
                <a:latin typeface="Bahnschrift"/>
                <a:ea typeface="STZhongsong"/>
              </a:rPr>
              <a:t>需求分析工作方法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736592"/>
            <a:ext cx="57607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50" b="1">
                <a:solidFill>
                  <a:srgbClr val="C2472F"/>
                </a:solidFill>
                <a:latin typeface="Bahnschrift"/>
                <a:ea typeface="微软雅黑"/>
              </a:rPr>
              <a:t>用户需求列表（67 条）</a:t>
            </a:r>
            <a:r>
              <a:rPr sz="1150" b="0">
                <a:solidFill>
                  <a:srgbClr val="0C1614"/>
                </a:solidFill>
                <a:latin typeface="Bahnschrift"/>
                <a:ea typeface="微软雅黑"/>
              </a:rPr>
              <a:t>  →  系统需求分析（57 用例 + 活动图 + 数据字典）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0C1614"/>
                </a:solidFill>
                <a:latin typeface="Bahnschrift"/>
                <a:ea typeface="微软雅黑"/>
              </a:rPr>
              <a:t>  →  需求对照表（72 条，双向可追溯）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454E48"/>
                </a:solidFill>
                <a:latin typeface="Bahnschrift"/>
                <a:ea typeface="微软雅黑"/>
              </a:rPr>
              <a:t>另补 5 条隐藏需求：数据隔离、操作日志等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069080"/>
            <a:ext cx="5376672" cy="2103120"/>
          </a:xfrm>
          <a:prstGeom prst="roundRect">
            <a:avLst>
              <a:gd name="adj" fmla="val 6000"/>
            </a:avLst>
          </a:prstGeom>
          <a:solidFill>
            <a:srgbClr val="F8E1D7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4261104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2472F"/>
                </a:solidFill>
                <a:latin typeface="Bahnschrift"/>
                <a:ea typeface="STZhongsong"/>
              </a:rPr>
              <a:t>文档已交付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736592"/>
            <a:ext cx="5029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0C1614"/>
                </a:solidFill>
                <a:latin typeface="Bahnschrift"/>
                <a:ea typeface="微软雅黑"/>
              </a:rPr>
              <a:t>系统需求分析 docx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0C1614"/>
                </a:solidFill>
                <a:latin typeface="Bahnschrift"/>
                <a:ea typeface="微软雅黑"/>
              </a:rPr>
              <a:t>PDF 预览版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0C1614"/>
                </a:solidFill>
                <a:latin typeface="Bahnschrift"/>
                <a:ea typeface="微软雅黑"/>
              </a:rPr>
              <a:t>简要用户需求列表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Bahnschrift"/>
                <a:ea typeface="微软雅黑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29184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C1614"/>
                </a:solidFill>
                <a:latin typeface="Bahnschrift"/>
                <a:ea typeface="STZhongsong"/>
              </a:rPr>
              <a:t>原型展示 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896112"/>
            <a:ext cx="11094415" cy="0"/>
          </a:xfrm>
          <a:prstGeom prst="line">
            <a:avLst/>
          </a:prstGeom>
          <a:ln w="15875">
            <a:solidFill>
              <a:srgbClr val="0C161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360152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454E48"/>
                </a:solidFill>
                <a:latin typeface="Bahnschrift"/>
                <a:ea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42415"/>
            <a:ext cx="11091672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dirty="0" err="1">
                <a:solidFill>
                  <a:srgbClr val="0C1614"/>
                </a:solidFill>
                <a:latin typeface="Bahnschrift"/>
                <a:ea typeface="STZhongsong"/>
              </a:rPr>
              <a:t>已实现的系统界面</a:t>
            </a:r>
            <a:r>
              <a:rPr sz="1350" b="1" dirty="0">
                <a:solidFill>
                  <a:srgbClr val="0C1614"/>
                </a:solidFill>
                <a:latin typeface="Bahnschrift"/>
                <a:ea typeface="STZhongsong"/>
              </a:rPr>
              <a:t> ·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" y="1495044"/>
            <a:ext cx="5440680" cy="4572000"/>
          </a:xfrm>
          <a:prstGeom prst="rect">
            <a:avLst/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44752"/>
            <a:ext cx="5440680" cy="4572000"/>
          </a:xfrm>
          <a:prstGeom prst="rect">
            <a:avLst/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91640" y="2587752"/>
            <a:ext cx="3154680" cy="274320"/>
          </a:xfrm>
          <a:prstGeom prst="rect">
            <a:avLst/>
          </a:prstGeom>
          <a:solidFill>
            <a:srgbClr val="E9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91640" y="1444752"/>
            <a:ext cx="3154680" cy="274320"/>
          </a:xfrm>
          <a:prstGeom prst="rect">
            <a:avLst/>
          </a:prstGeom>
          <a:solidFill>
            <a:srgbClr val="E9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8368" y="1527048"/>
            <a:ext cx="77724" cy="77724"/>
          </a:xfrm>
          <a:prstGeom prst="ellipse">
            <a:avLst/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13816" y="1527048"/>
            <a:ext cx="77724" cy="77724"/>
          </a:xfrm>
          <a:prstGeom prst="ellipse">
            <a:avLst/>
          </a:prstGeom>
          <a:solidFill>
            <a:srgbClr val="A06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69264" y="1527048"/>
            <a:ext cx="77724" cy="77724"/>
          </a:xfrm>
          <a:prstGeom prst="ellipse">
            <a:avLst/>
          </a:prstGeom>
          <a:solidFill>
            <a:srgbClr val="355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25880" y="1476756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8B9084"/>
                </a:solidFill>
                <a:latin typeface="Bahnschrift"/>
                <a:ea typeface="微软雅黑"/>
              </a:rPr>
              <a:t>localhost:5173/login</a:t>
            </a:r>
          </a:p>
        </p:txBody>
      </p:sp>
      <p:pic>
        <p:nvPicPr>
          <p:cNvPr id="15" name="Picture 14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17407"/>
            <a:ext cx="5221224" cy="32632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8368" y="5751576"/>
            <a:ext cx="522122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54E48"/>
                </a:solidFill>
                <a:latin typeface="Bahnschrift"/>
                <a:ea typeface="微软雅黑"/>
              </a:rPr>
              <a:t>登录 / 注册 · JWT 认证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9924" y="1495044"/>
            <a:ext cx="5440680" cy="4572000"/>
          </a:xfrm>
          <a:prstGeom prst="rect">
            <a:avLst/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9632" y="1444752"/>
            <a:ext cx="5440680" cy="4572000"/>
          </a:xfrm>
          <a:prstGeom prst="rect">
            <a:avLst/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42632" y="2587752"/>
            <a:ext cx="3154680" cy="274320"/>
          </a:xfrm>
          <a:prstGeom prst="rect">
            <a:avLst/>
          </a:prstGeom>
          <a:solidFill>
            <a:srgbClr val="E9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42632" y="1444752"/>
            <a:ext cx="3154680" cy="274320"/>
          </a:xfrm>
          <a:prstGeom prst="rect">
            <a:avLst/>
          </a:prstGeom>
          <a:solidFill>
            <a:srgbClr val="E9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09360" y="1527048"/>
            <a:ext cx="77724" cy="77724"/>
          </a:xfrm>
          <a:prstGeom prst="ellipse">
            <a:avLst/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64808" y="1527048"/>
            <a:ext cx="77724" cy="77724"/>
          </a:xfrm>
          <a:prstGeom prst="ellipse">
            <a:avLst/>
          </a:prstGeom>
          <a:solidFill>
            <a:srgbClr val="A06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620256" y="1527048"/>
            <a:ext cx="77724" cy="77724"/>
          </a:xfrm>
          <a:prstGeom prst="ellipse">
            <a:avLst/>
          </a:prstGeom>
          <a:solidFill>
            <a:srgbClr val="355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76872" y="1476756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8B9084"/>
                </a:solidFill>
                <a:latin typeface="Bahnschrift"/>
                <a:ea typeface="微软雅黑"/>
              </a:rPr>
              <a:t>localhost:5173</a:t>
            </a:r>
          </a:p>
        </p:txBody>
      </p:sp>
      <p:pic>
        <p:nvPicPr>
          <p:cNvPr id="25" name="Picture 24" descr="02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17407"/>
            <a:ext cx="5221224" cy="32632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09360" y="5751576"/>
            <a:ext cx="522122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54E48"/>
                </a:solidFill>
                <a:latin typeface="Bahnschrift"/>
                <a:ea typeface="微软雅黑"/>
              </a:rPr>
              <a:t>首页聚合面板 · 今日任务 / 倒计时 / 进度 / 打卡（演示数据）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Bahnschrift"/>
                <a:ea typeface="微软雅黑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29184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C1614"/>
                </a:solidFill>
                <a:latin typeface="Bahnschrift"/>
                <a:ea typeface="STZhongsong"/>
              </a:rPr>
              <a:t>原型展示 ②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896112"/>
            <a:ext cx="11094415" cy="0"/>
          </a:xfrm>
          <a:prstGeom prst="line">
            <a:avLst/>
          </a:prstGeom>
          <a:ln w="15875">
            <a:solidFill>
              <a:srgbClr val="0C161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360152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454E48"/>
                </a:solidFill>
                <a:latin typeface="Bahnschrift"/>
                <a:ea typeface="微软雅黑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" y="1403604"/>
            <a:ext cx="5440680" cy="2286000"/>
          </a:xfrm>
          <a:prstGeom prst="rect">
            <a:avLst/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53312"/>
            <a:ext cx="5440680" cy="2286000"/>
          </a:xfrm>
          <a:prstGeom prst="rect">
            <a:avLst/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91640" y="2496312"/>
            <a:ext cx="3154680" cy="274320"/>
          </a:xfrm>
          <a:prstGeom prst="rect">
            <a:avLst/>
          </a:prstGeom>
          <a:solidFill>
            <a:srgbClr val="E9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91640" y="1353312"/>
            <a:ext cx="3154680" cy="274320"/>
          </a:xfrm>
          <a:prstGeom prst="rect">
            <a:avLst/>
          </a:prstGeom>
          <a:solidFill>
            <a:srgbClr val="E9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368" y="1435608"/>
            <a:ext cx="77724" cy="77724"/>
          </a:xfrm>
          <a:prstGeom prst="ellipse">
            <a:avLst/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13816" y="1435608"/>
            <a:ext cx="77724" cy="77724"/>
          </a:xfrm>
          <a:prstGeom prst="ellipse">
            <a:avLst/>
          </a:prstGeom>
          <a:solidFill>
            <a:srgbClr val="A06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69264" y="1435608"/>
            <a:ext cx="77724" cy="77724"/>
          </a:xfrm>
          <a:prstGeom prst="ellipse">
            <a:avLst/>
          </a:prstGeom>
          <a:solidFill>
            <a:srgbClr val="355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25880" y="1385316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8B9084"/>
                </a:solidFill>
                <a:latin typeface="Bahnschrift"/>
                <a:ea typeface="微软雅黑"/>
              </a:rPr>
              <a:t>localhost:5173/exams</a:t>
            </a:r>
          </a:p>
        </p:txBody>
      </p:sp>
      <p:pic>
        <p:nvPicPr>
          <p:cNvPr id="14" name="Picture 13" descr="03_ex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395" y="1737360"/>
            <a:ext cx="2487168" cy="1554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374136"/>
            <a:ext cx="522122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54E48"/>
                </a:solidFill>
                <a:latin typeface="Bahnschrift"/>
                <a:ea typeface="微软雅黑"/>
              </a:rPr>
              <a:t>考试管理 · 录入 / 进度 / 倒计时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8212" y="1403604"/>
            <a:ext cx="5440680" cy="2286000"/>
          </a:xfrm>
          <a:prstGeom prst="rect">
            <a:avLst/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353312"/>
            <a:ext cx="5440680" cy="2286000"/>
          </a:xfrm>
          <a:prstGeom prst="rect">
            <a:avLst/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60920" y="2496312"/>
            <a:ext cx="3154680" cy="274320"/>
          </a:xfrm>
          <a:prstGeom prst="rect">
            <a:avLst/>
          </a:prstGeom>
          <a:solidFill>
            <a:srgbClr val="E9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60920" y="1353312"/>
            <a:ext cx="3154680" cy="274320"/>
          </a:xfrm>
          <a:prstGeom prst="rect">
            <a:avLst/>
          </a:prstGeom>
          <a:solidFill>
            <a:srgbClr val="E9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27648" y="1435608"/>
            <a:ext cx="77724" cy="77724"/>
          </a:xfrm>
          <a:prstGeom prst="ellipse">
            <a:avLst/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83096" y="1435608"/>
            <a:ext cx="77724" cy="77724"/>
          </a:xfrm>
          <a:prstGeom prst="ellipse">
            <a:avLst/>
          </a:prstGeom>
          <a:solidFill>
            <a:srgbClr val="A06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38544" y="1435608"/>
            <a:ext cx="77724" cy="77724"/>
          </a:xfrm>
          <a:prstGeom prst="ellipse">
            <a:avLst/>
          </a:prstGeom>
          <a:solidFill>
            <a:srgbClr val="355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95159" y="1385316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8B9084"/>
                </a:solidFill>
                <a:latin typeface="Bahnschrift"/>
                <a:ea typeface="微软雅黑"/>
              </a:rPr>
              <a:t>localhost:5173/materials</a:t>
            </a:r>
          </a:p>
        </p:txBody>
      </p:sp>
      <p:pic>
        <p:nvPicPr>
          <p:cNvPr id="24" name="Picture 23" descr="04_materi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675" y="1737360"/>
            <a:ext cx="2487168" cy="15544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27648" y="3374136"/>
            <a:ext cx="522122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54E48"/>
                </a:solidFill>
                <a:latin typeface="Bahnschrift"/>
                <a:ea typeface="微软雅黑"/>
              </a:rPr>
              <a:t>复习资料 · 上传 / 来源标注 / 解析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" y="3854196"/>
            <a:ext cx="5440680" cy="2670048"/>
          </a:xfrm>
          <a:prstGeom prst="rect">
            <a:avLst/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3803904"/>
            <a:ext cx="5440680" cy="2670048"/>
          </a:xfrm>
          <a:prstGeom prst="rect">
            <a:avLst/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691640" y="4946904"/>
            <a:ext cx="3154680" cy="274320"/>
          </a:xfrm>
          <a:prstGeom prst="rect">
            <a:avLst/>
          </a:prstGeom>
          <a:solidFill>
            <a:srgbClr val="E9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691640" y="3803904"/>
            <a:ext cx="3154680" cy="274320"/>
          </a:xfrm>
          <a:prstGeom prst="rect">
            <a:avLst/>
          </a:prstGeom>
          <a:solidFill>
            <a:srgbClr val="E9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58368" y="3886200"/>
            <a:ext cx="77724" cy="77724"/>
          </a:xfrm>
          <a:prstGeom prst="ellipse">
            <a:avLst/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13816" y="3886200"/>
            <a:ext cx="77724" cy="77724"/>
          </a:xfrm>
          <a:prstGeom prst="ellipse">
            <a:avLst/>
          </a:prstGeom>
          <a:solidFill>
            <a:srgbClr val="A06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69264" y="3886200"/>
            <a:ext cx="77724" cy="77724"/>
          </a:xfrm>
          <a:prstGeom prst="ellipse">
            <a:avLst/>
          </a:prstGeom>
          <a:solidFill>
            <a:srgbClr val="355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25880" y="3835908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8B9084"/>
                </a:solidFill>
                <a:latin typeface="Bahnschrift"/>
                <a:ea typeface="微软雅黑"/>
              </a:rPr>
              <a:t>localhost:5173/analysis</a:t>
            </a:r>
          </a:p>
        </p:txBody>
      </p:sp>
      <p:pic>
        <p:nvPicPr>
          <p:cNvPr id="34" name="Picture 33" descr="05_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157" y="4187952"/>
            <a:ext cx="3101644" cy="19385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58368" y="6208776"/>
            <a:ext cx="522122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54E48"/>
                </a:solidFill>
                <a:latin typeface="Bahnschrift"/>
                <a:ea typeface="微软雅黑"/>
              </a:rPr>
              <a:t>AI 分析 · 知识点权重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8212" y="3854196"/>
            <a:ext cx="5440680" cy="2670048"/>
          </a:xfrm>
          <a:prstGeom prst="rect">
            <a:avLst/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17920" y="3803904"/>
            <a:ext cx="5440680" cy="2670048"/>
          </a:xfrm>
          <a:prstGeom prst="rect">
            <a:avLst/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360920" y="4946904"/>
            <a:ext cx="3154680" cy="274320"/>
          </a:xfrm>
          <a:prstGeom prst="rect">
            <a:avLst/>
          </a:prstGeom>
          <a:solidFill>
            <a:srgbClr val="E9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360920" y="3803904"/>
            <a:ext cx="3154680" cy="274320"/>
          </a:xfrm>
          <a:prstGeom prst="rect">
            <a:avLst/>
          </a:prstGeom>
          <a:solidFill>
            <a:srgbClr val="E9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327648" y="3886200"/>
            <a:ext cx="77724" cy="77724"/>
          </a:xfrm>
          <a:prstGeom prst="ellipse">
            <a:avLst/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483096" y="3886200"/>
            <a:ext cx="77724" cy="77724"/>
          </a:xfrm>
          <a:prstGeom prst="ellipse">
            <a:avLst/>
          </a:prstGeom>
          <a:solidFill>
            <a:srgbClr val="A06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638544" y="3886200"/>
            <a:ext cx="77724" cy="77724"/>
          </a:xfrm>
          <a:prstGeom prst="ellipse">
            <a:avLst/>
          </a:prstGeom>
          <a:solidFill>
            <a:srgbClr val="355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95159" y="3835908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8B9084"/>
                </a:solidFill>
                <a:latin typeface="Bahnschrift"/>
                <a:ea typeface="微软雅黑"/>
              </a:rPr>
              <a:t>localhost:5173/analysis</a:t>
            </a:r>
          </a:p>
        </p:txBody>
      </p:sp>
      <p:pic>
        <p:nvPicPr>
          <p:cNvPr id="44" name="Picture 43" descr="05_analysis_scro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7437" y="4187952"/>
            <a:ext cx="3101644" cy="193852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327648" y="6208776"/>
            <a:ext cx="522122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454E48"/>
                </a:solidFill>
                <a:latin typeface="Bahnschrift"/>
                <a:ea typeface="微软雅黑"/>
              </a:rPr>
              <a:t>AI 分析 · 按天计划 / 自测题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Bahnschrift"/>
                <a:ea typeface="微软雅黑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29184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C1614"/>
                </a:solidFill>
                <a:latin typeface="Bahnschrift"/>
                <a:ea typeface="STZhongsong"/>
              </a:rPr>
              <a:t>技术架构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896112"/>
            <a:ext cx="11094415" cy="0"/>
          </a:xfrm>
          <a:prstGeom prst="line">
            <a:avLst/>
          </a:prstGeom>
          <a:ln w="15875">
            <a:solidFill>
              <a:srgbClr val="0C161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360152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454E48"/>
                </a:solidFill>
                <a:latin typeface="Bahnschrift"/>
                <a:ea typeface="微软雅黑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33856"/>
            <a:ext cx="5029200" cy="658368"/>
          </a:xfrm>
          <a:prstGeom prst="roundRect">
            <a:avLst>
              <a:gd name="adj" fmla="val 50000"/>
            </a:avLst>
          </a:prstGeom>
          <a:solidFill>
            <a:srgbClr val="F8F5EC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33856"/>
            <a:ext cx="12344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C1614"/>
                </a:solidFill>
                <a:latin typeface="Bahnschrift"/>
                <a:ea typeface="STZhongsong"/>
              </a:rPr>
              <a:t>浏览器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179576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454E48"/>
                </a:solidFill>
                <a:latin typeface="Bahnschrift"/>
                <a:ea typeface="微软雅黑"/>
              </a:rPr>
              <a:t>Chrome / Edge / Firefox，桌面端与移动端均可访问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564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66348"/>
                </a:solidFill>
                <a:latin typeface="Bahnschrift"/>
                <a:ea typeface="微软雅黑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93391"/>
            <a:ext cx="5029200" cy="658368"/>
          </a:xfrm>
          <a:prstGeom prst="roundRect">
            <a:avLst>
              <a:gd name="adj" fmla="val 50000"/>
            </a:avLst>
          </a:prstGeom>
          <a:solidFill>
            <a:srgbClr val="F8F5EC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993391"/>
            <a:ext cx="12344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C1614"/>
                </a:solidFill>
                <a:latin typeface="Bahnschrift"/>
                <a:ea typeface="STZhongsong"/>
              </a:rPr>
              <a:t>前端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039111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454E48"/>
                </a:solidFill>
                <a:latin typeface="Bahnschrift"/>
                <a:ea typeface="微软雅黑"/>
              </a:rPr>
              <a:t>Vue 3 + Vite + Pinia + Vue Router + Element Plus + ECharts + Axios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15184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66348"/>
                </a:solidFill>
                <a:latin typeface="Bahnschrift"/>
                <a:ea typeface="微软雅黑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52927"/>
            <a:ext cx="5029200" cy="658368"/>
          </a:xfrm>
          <a:prstGeom prst="roundRect">
            <a:avLst>
              <a:gd name="adj" fmla="val 50000"/>
            </a:avLst>
          </a:prstGeom>
          <a:solidFill>
            <a:srgbClr val="F8F5EC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852927"/>
            <a:ext cx="12344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C1614"/>
                </a:solidFill>
                <a:latin typeface="Bahnschrift"/>
                <a:ea typeface="STZhongsong"/>
              </a:rPr>
              <a:t>后端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898647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454E48"/>
                </a:solidFill>
                <a:latin typeface="Bahnschrift"/>
                <a:ea typeface="微软雅黑"/>
              </a:rPr>
              <a:t>Python 3.10+ · FastAPI + SQLAlchemy 2 + Pydantic v2 · JWT 鉴权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7472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66348"/>
                </a:solidFill>
                <a:latin typeface="Bahnschrift"/>
                <a:ea typeface="微软雅黑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12463"/>
            <a:ext cx="5029200" cy="658368"/>
          </a:xfrm>
          <a:prstGeom prst="roundRect">
            <a:avLst>
              <a:gd name="adj" fmla="val 50000"/>
            </a:avLst>
          </a:prstGeom>
          <a:solidFill>
            <a:srgbClr val="DFE8E2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712463"/>
            <a:ext cx="12344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C1614"/>
                </a:solidFill>
                <a:latin typeface="Bahnschrift"/>
                <a:ea typeface="STZhongsong"/>
              </a:rPr>
              <a:t>数据库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758183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454E48"/>
                </a:solidFill>
                <a:latin typeface="Bahnschrift"/>
                <a:ea typeface="微软雅黑"/>
              </a:rPr>
              <a:t>SQLite（开发演示）→ MySQL 8.0（目标），切换仅改连接配置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34255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66348"/>
                </a:solidFill>
                <a:latin typeface="Bahnschrift"/>
                <a:ea typeface="微软雅黑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72000"/>
            <a:ext cx="5029200" cy="658368"/>
          </a:xfrm>
          <a:prstGeom prst="roundRect">
            <a:avLst>
              <a:gd name="adj" fmla="val 50000"/>
            </a:avLst>
          </a:prstGeom>
          <a:solidFill>
            <a:srgbClr val="F8E1D7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12344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C1614"/>
                </a:solidFill>
                <a:latin typeface="Bahnschrift"/>
                <a:ea typeface="STZhongsong"/>
              </a:rPr>
              <a:t>外部服务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617720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454E48"/>
                </a:solidFill>
                <a:latin typeface="Bahnschrift"/>
                <a:ea typeface="微软雅黑"/>
              </a:rPr>
              <a:t>DeepSeek API（OpenAI 兼容 · Key 仅存后端环境变量 · 内置 Mock）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93792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66348"/>
                </a:solidFill>
                <a:latin typeface="Bahnschrift"/>
                <a:ea typeface="微软雅黑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431536"/>
            <a:ext cx="5029200" cy="658368"/>
          </a:xfrm>
          <a:prstGeom prst="roundRect">
            <a:avLst>
              <a:gd name="adj" fmla="val 50000"/>
            </a:avLst>
          </a:prstGeom>
          <a:solidFill>
            <a:srgbClr val="F8F5EC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431536"/>
            <a:ext cx="12344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011680" y="5477255"/>
            <a:ext cx="3429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454E48"/>
                </a:solidFill>
                <a:latin typeface="Bahnschrift"/>
                <a:ea typeface="微软雅黑"/>
              </a:rPr>
              <a:t>四川大学教务处网站（统一考表导入，WebView + 脚本注入）</a:t>
            </a:r>
          </a:p>
        </p:txBody>
      </p:sp>
      <p:pic>
        <p:nvPicPr>
          <p:cNvPr id="29" name="Picture 28" descr="fig_2_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0297" y="1133856"/>
            <a:ext cx="4220014" cy="5029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035040" y="6236208"/>
            <a:ext cx="5605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54E48"/>
                </a:solidFill>
                <a:latin typeface="Bahnschrift"/>
                <a:ea typeface="微软雅黑"/>
              </a:rPr>
              <a:t>系统总体构架图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23620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前后端分离 · 接口文档自动生成 · 双 Mock 保演示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Bahnschrift"/>
                <a:ea typeface="微软雅黑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29184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C1614"/>
                </a:solidFill>
                <a:latin typeface="Bahnschrift"/>
                <a:ea typeface="STZhongsong"/>
              </a:rPr>
              <a:t>进度与小组分工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896112"/>
            <a:ext cx="11094415" cy="0"/>
          </a:xfrm>
          <a:prstGeom prst="line">
            <a:avLst/>
          </a:prstGeom>
          <a:ln w="15875">
            <a:solidFill>
              <a:srgbClr val="0C161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360152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454E48"/>
                </a:solidFill>
                <a:latin typeface="Bahnschrift"/>
                <a:ea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42415"/>
            <a:ext cx="1109167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C1614"/>
                </a:solidFill>
                <a:latin typeface="Bahnschrift"/>
                <a:ea typeface="STZhongsong"/>
              </a:rPr>
              <a:t>当前进度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4752"/>
            <a:ext cx="4480560" cy="841248"/>
          </a:xfrm>
          <a:prstGeom prst="roundRect">
            <a:avLst>
              <a:gd name="adj" fmla="val 50000"/>
            </a:avLst>
          </a:prstGeom>
          <a:solidFill>
            <a:srgbClr val="DFE8E2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41148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35554C"/>
                </a:solidFill>
                <a:latin typeface="Bahnschrift"/>
                <a:ea typeface="微软雅黑"/>
              </a:rPr>
              <a:t>✓ 需求分析  </a:t>
            </a: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V1.2 已交付：87 页 · 9 章 · 78 表 · 68 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95728"/>
            <a:ext cx="4480560" cy="841248"/>
          </a:xfrm>
          <a:prstGeom prst="roundRect">
            <a:avLst>
              <a:gd name="adj" fmla="val 50000"/>
            </a:avLst>
          </a:prstGeom>
          <a:solidFill>
            <a:srgbClr val="DFE8E2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395728"/>
            <a:ext cx="41148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35554C"/>
                </a:solidFill>
                <a:latin typeface="Bahnschrift"/>
                <a:ea typeface="微软雅黑"/>
              </a:rPr>
              <a:t>✓ MVP 主线  </a:t>
            </a: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注册登录 → 录考试 → 传资料 → AI 分析 → 打卡 → 统计，全流程打通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46704"/>
            <a:ext cx="4480560" cy="841248"/>
          </a:xfrm>
          <a:prstGeom prst="roundRect">
            <a:avLst>
              <a:gd name="adj" fmla="val 50000"/>
            </a:avLst>
          </a:prstGeom>
          <a:solidFill>
            <a:srgbClr val="DFE8E2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346704"/>
            <a:ext cx="41148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35554C"/>
                </a:solidFill>
                <a:latin typeface="Bahnschrift"/>
                <a:ea typeface="微软雅黑"/>
              </a:rPr>
              <a:t>✓ 双 Mock 设计  </a:t>
            </a: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前端假后端 / 后端假大模型，两开关正交，无网络无 Key 也能演示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70832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C1614"/>
                </a:solidFill>
                <a:latin typeface="Bahnschrift"/>
                <a:ea typeface="STZhongsong"/>
              </a:rPr>
              <a:t>待开发（已分配至组员）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73168"/>
            <a:ext cx="4480560" cy="1371600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901184"/>
            <a:ext cx="4114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454E48"/>
                </a:solidFill>
                <a:latin typeface="Bahnschrift"/>
                <a:ea typeface="微软雅黑"/>
              </a:rPr>
              <a:t>提醒通知 · 特色功能 · 管理端三个模块；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454E48"/>
                </a:solidFill>
                <a:latin typeface="Bahnschrift"/>
                <a:ea typeface="微软雅黑"/>
              </a:rPr>
              <a:t>资料类型补齐（教材章节 / 实验报告）；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454E48"/>
                </a:solidFill>
                <a:latin typeface="Bahnschrift"/>
                <a:ea typeface="微软雅黑"/>
              </a:rPr>
              <a:t>任务编辑、考表导入等扩展项，全部录入 README 状态表。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1042415"/>
            <a:ext cx="5760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C1614"/>
                </a:solidFill>
                <a:latin typeface="Bahnschrift"/>
                <a:ea typeface="STZhongsong"/>
              </a:rPr>
              <a:t>小组分工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1444752"/>
            <a:ext cx="5788152" cy="713232"/>
          </a:xfrm>
          <a:prstGeom prst="roundRect">
            <a:avLst>
              <a:gd name="adj" fmla="val 50000"/>
            </a:avLst>
          </a:prstGeom>
          <a:solidFill>
            <a:srgbClr val="F8F5EC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53328" y="1444752"/>
            <a:ext cx="10515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C1614"/>
                </a:solidFill>
                <a:latin typeface="Bahnschrift"/>
                <a:ea typeface="STZhongsong"/>
              </a:rPr>
              <a:t>刘添屹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1444752"/>
            <a:ext cx="6400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C2472F"/>
                </a:solidFill>
                <a:latin typeface="Bahnschrift"/>
                <a:ea typeface="微软雅黑"/>
              </a:rPr>
              <a:t>组长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1729681"/>
            <a:ext cx="3703320" cy="1433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现有成果；后续架构把关、代码审查、全文统稿</a:t>
            </a:r>
            <a:endParaRPr sz="950" b="0" dirty="0">
              <a:solidFill>
                <a:srgbClr val="454E48"/>
              </a:solidFill>
              <a:latin typeface="Bahnschrift"/>
              <a:ea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52160" y="2253996"/>
            <a:ext cx="5788152" cy="713232"/>
          </a:xfrm>
          <a:prstGeom prst="roundRect">
            <a:avLst>
              <a:gd name="adj" fmla="val 50000"/>
            </a:avLst>
          </a:prstGeom>
          <a:solidFill>
            <a:srgbClr val="F8F5EC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53328" y="2253996"/>
            <a:ext cx="10515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C1614"/>
                </a:solidFill>
                <a:latin typeface="Bahnschrift"/>
                <a:ea typeface="STZhongsong"/>
              </a:rPr>
              <a:t>许丽媛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253996"/>
            <a:ext cx="6400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C2472F"/>
                </a:solidFill>
                <a:latin typeface="Bahnschrift"/>
                <a:ea typeface="微软雅黑"/>
              </a:rPr>
              <a:t>组员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253996"/>
            <a:ext cx="3703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账号管理完善 + 考试与日程扩展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3063239"/>
            <a:ext cx="5788152" cy="713232"/>
          </a:xfrm>
          <a:prstGeom prst="roundRect">
            <a:avLst>
              <a:gd name="adj" fmla="val 50000"/>
            </a:avLst>
          </a:prstGeom>
          <a:solidFill>
            <a:srgbClr val="F8F5EC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53328" y="3063239"/>
            <a:ext cx="10515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C1614"/>
                </a:solidFill>
                <a:latin typeface="Bahnschrift"/>
                <a:ea typeface="STZhongsong"/>
              </a:rPr>
              <a:t>胡歆桐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063239"/>
            <a:ext cx="6400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C2472F"/>
                </a:solidFill>
                <a:latin typeface="Bahnschrift"/>
                <a:ea typeface="微软雅黑"/>
              </a:rPr>
              <a:t>组员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3063239"/>
            <a:ext cx="3703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资料管理扩展 + AI 分析扩展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52160" y="3872483"/>
            <a:ext cx="5788152" cy="713232"/>
          </a:xfrm>
          <a:prstGeom prst="roundRect">
            <a:avLst>
              <a:gd name="adj" fmla="val 50000"/>
            </a:avLst>
          </a:prstGeom>
          <a:solidFill>
            <a:srgbClr val="F8F5EC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53328" y="3872483"/>
            <a:ext cx="10515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C1614"/>
                </a:solidFill>
                <a:latin typeface="Bahnschrift"/>
                <a:ea typeface="STZhongsong"/>
              </a:rPr>
              <a:t>张诗琪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872483"/>
            <a:ext cx="6400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C2472F"/>
                </a:solidFill>
                <a:latin typeface="Bahnschrift"/>
                <a:ea typeface="微软雅黑"/>
              </a:rPr>
              <a:t>组员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3872483"/>
            <a:ext cx="3703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学习统计 + 提醒通知 + 番茄钟 + 自测题判分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52160" y="4681727"/>
            <a:ext cx="5788152" cy="713232"/>
          </a:xfrm>
          <a:prstGeom prst="roundRect">
            <a:avLst>
              <a:gd name="adj" fmla="val 50000"/>
            </a:avLst>
          </a:prstGeom>
          <a:solidFill>
            <a:srgbClr val="F8F5EC"/>
          </a:solidFill>
          <a:ln w="12700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53328" y="4681727"/>
            <a:ext cx="10515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C1614"/>
                </a:solidFill>
                <a:latin typeface="Bahnschrift"/>
                <a:ea typeface="STZhongsong"/>
              </a:rPr>
              <a:t>宋跃月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4681727"/>
            <a:ext cx="6400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C2472F"/>
                </a:solidFill>
                <a:latin typeface="Bahnschrift"/>
                <a:ea typeface="微软雅黑"/>
              </a:rPr>
              <a:t>组员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4681727"/>
            <a:ext cx="3703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特色功能 + 管理端 + 二次确认/日志 + 联调测试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1089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E66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Bahnschrift"/>
                <a:ea typeface="微软雅黑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329184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C1614"/>
                </a:solidFill>
                <a:latin typeface="Bahnschrift"/>
                <a:ea typeface="STZhongsong"/>
              </a:rPr>
              <a:t>后续计划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896112"/>
            <a:ext cx="11094415" cy="0"/>
          </a:xfrm>
          <a:prstGeom prst="line">
            <a:avLst/>
          </a:prstGeom>
          <a:ln w="15875">
            <a:solidFill>
              <a:srgbClr val="0C161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360152" y="6519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454E48"/>
                </a:solidFill>
                <a:latin typeface="Bahnschrift"/>
                <a:ea typeface="微软雅黑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" y="1467612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C2472F"/>
                </a:solidFill>
                <a:latin typeface="Bahnschrift"/>
                <a:ea typeface="STZhongsong"/>
              </a:rPr>
              <a:t>① 前后端联调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23774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USE_MOCK 切回 false，跑通注册 → 录入 → 上传 → AI 分析 → 打卡全流程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9292" y="1467612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29000" y="141732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164592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C2472F"/>
                </a:solidFill>
                <a:latin typeface="Bahnschrift"/>
                <a:ea typeface="STZhongsong"/>
              </a:rPr>
              <a:t>② 组员开发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148840"/>
            <a:ext cx="23774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按分工表认领任务，Git 分支协作 + Pull Request 合并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9651" y="1467612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09359" y="141732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64592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C2472F"/>
                </a:solidFill>
                <a:latin typeface="Bahnschrift"/>
                <a:ea typeface="STZhongsong"/>
              </a:rPr>
              <a:t>③ 公网部署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48840"/>
            <a:ext cx="23774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Nginx + Uvicorn 部署到公网，内网可演示兜底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40011" y="1467612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89719" y="141732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8F5EC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72599" y="164592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C2472F"/>
                </a:solidFill>
                <a:latin typeface="Bahnschrift"/>
                <a:ea typeface="STZhongsong"/>
              </a:rPr>
              <a:t>④ 文档回归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599" y="2148840"/>
            <a:ext cx="23774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454E48"/>
                </a:solidFill>
                <a:latin typeface="Bahnschrift"/>
                <a:ea typeface="微软雅黑"/>
              </a:rPr>
              <a:t>任何公式 / 口径 / 接口改动，同步更新需求文档与交接文档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" y="4027931"/>
            <a:ext cx="11091672" cy="214884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48640" y="3977639"/>
            <a:ext cx="11091672" cy="2148840"/>
          </a:xfrm>
          <a:prstGeom prst="roundRect">
            <a:avLst>
              <a:gd name="adj" fmla="val 6000"/>
            </a:avLst>
          </a:prstGeom>
          <a:solidFill>
            <a:srgbClr val="0C1614"/>
          </a:solidFill>
          <a:ln w="15875">
            <a:solidFill>
              <a:srgbClr val="0C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34340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Bahnschrift"/>
                <a:ea typeface="STZhongsong"/>
              </a:rPr>
              <a:t>谢谢聆听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dirty="0" err="1">
                <a:solidFill>
                  <a:srgbClr val="F0846B"/>
                </a:solidFill>
                <a:latin typeface="Bahnschrift"/>
                <a:ea typeface="微软雅黑"/>
              </a:rPr>
              <a:t>恳请老师与同学们批评指正</a:t>
            </a:r>
            <a:endParaRPr sz="1500" b="0" dirty="0">
              <a:solidFill>
                <a:srgbClr val="F0846B"/>
              </a:solidFill>
              <a:latin typeface="Bahnschrift"/>
              <a:ea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1182</Words>
  <Application>Microsoft Office PowerPoint</Application>
  <PresentationFormat>宽屏</PresentationFormat>
  <Paragraphs>349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Arial</vt:lpstr>
      <vt:lpstr>Bahnschrift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Liu</cp:lastModifiedBy>
  <cp:revision>5</cp:revision>
  <dcterms:created xsi:type="dcterms:W3CDTF">2013-01-27T09:14:16Z</dcterms:created>
  <dcterms:modified xsi:type="dcterms:W3CDTF">2026-09-22T07:58:56Z</dcterms:modified>
  <cp:category/>
</cp:coreProperties>
</file>